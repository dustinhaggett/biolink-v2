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C8AEBE-880D-4FAF-860E-AE43DC61813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EFAE1-95EC-4624-A258-22A62C9E98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0D0FAE-2326-43E2-9F95-F18E7A2D58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BB7267-1F1F-4ADB-AF96-F5F5E3B3B9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22C111-03C1-4518-8261-16CB8D9656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460C9-EA2E-4D9A-91D4-EE30CED3B1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BB904E-6D79-4903-A97F-D3362AF4A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D8F0A1-BA89-4A96-82CF-A7975625A8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6CF96B-04B8-45E8-B05B-1CD0021974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6E7791-7E84-49F0-990B-D1BB723320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858000" y="-1371600"/>
            <a:ext cx="3657240" cy="3657240"/>
          </a:xfrm>
          <a:prstGeom prst="ellipse">
            <a:avLst/>
          </a:prstGeom>
          <a:solidFill>
            <a:srgbClr val="02809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772400" y="2743200"/>
            <a:ext cx="2742840" cy="2742840"/>
          </a:xfrm>
          <a:prstGeom prst="ellipse">
            <a:avLst/>
          </a:prstGeom>
          <a:solidFill>
            <a:srgbClr val="00A89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731520" y="15544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1463040" y="137160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BioLink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463040" y="21945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AI-Powered Drug Repurposing Discovery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463040" y="2926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Progress Report — AAI 595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463040" y="3657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F0EE"/>
                </a:solidFill>
                <a:effectLst/>
                <a:uFillTx/>
                <a:latin typeface="Calibri"/>
                <a:ea typeface="Calibri"/>
              </a:rPr>
              <a:t>Dustin Haggett  |  Kera Prosper  |  Mia Braun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463040" y="40233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E"/>
                </a:solidFill>
                <a:effectLst/>
                <a:uFillTx/>
                <a:latin typeface="Calibri"/>
                <a:ea typeface="Calibri"/>
              </a:rPr>
              <a:t>March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What is BioLink?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731520" y="118872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A drug repurposing discovery tool that uses knowledge graph AI to find new therapeutic uses for existing drugs.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731520" y="2194560"/>
            <a:ext cx="1828440" cy="164556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/>
          <p:cNvPicPr/>
          <p:nvPr/>
        </p:nvPicPr>
        <p:blipFill>
          <a:blip r:embed="rId1"/>
          <a:stretch/>
        </p:blipFill>
        <p:spPr>
          <a:xfrm>
            <a:off x="1417320" y="2423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4"/>
          <p:cNvSpPr/>
          <p:nvPr/>
        </p:nvSpPr>
        <p:spPr>
          <a:xfrm>
            <a:off x="731520" y="29718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Patient 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a disease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2743200" y="2194560"/>
            <a:ext cx="1828440" cy="164556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preencoded.png"/>
          <p:cNvPicPr/>
          <p:nvPr/>
        </p:nvPicPr>
        <p:blipFill>
          <a:blip r:embed="rId2"/>
          <a:stretch/>
        </p:blipFill>
        <p:spPr>
          <a:xfrm>
            <a:off x="3429000" y="2423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6"/>
          <p:cNvSpPr/>
          <p:nvPr/>
        </p:nvSpPr>
        <p:spPr>
          <a:xfrm>
            <a:off x="2743200" y="29718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AI maps 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medical entity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4754880" y="2194560"/>
            <a:ext cx="1828440" cy="164556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preencoded.png"/>
          <p:cNvPicPr/>
          <p:nvPr/>
        </p:nvPicPr>
        <p:blipFill>
          <a:blip r:embed="rId3"/>
          <a:stretch/>
        </p:blipFill>
        <p:spPr>
          <a:xfrm>
            <a:off x="5440680" y="2423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4754880" y="29718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Model scores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7,164 drugs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766560" y="2194560"/>
            <a:ext cx="1828440" cy="164556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3" descr="preencoded.png"/>
          <p:cNvPicPr/>
          <p:nvPr/>
        </p:nvPicPr>
        <p:blipFill>
          <a:blip r:embed="rId4"/>
          <a:stretch/>
        </p:blipFill>
        <p:spPr>
          <a:xfrm>
            <a:off x="7452360" y="2423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6766560" y="29718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Ranked results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with evidence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5486400" y="100584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090"/>
                </a:solidFill>
                <a:effectLst/>
                <a:uFillTx/>
                <a:latin typeface="Georgia"/>
                <a:ea typeface="Georgia"/>
              </a:rPr>
              <a:t>0.947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5486400" y="1417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AUC-ROC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7315200" y="10058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090"/>
                </a:solidFill>
                <a:effectLst/>
                <a:uFillTx/>
                <a:latin typeface="Georgia"/>
                <a:ea typeface="Georgia"/>
              </a:rPr>
              <a:t>7,164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7315200" y="14173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Drugs Scored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Model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731520" y="10515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MLP Network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731520" y="1463040"/>
            <a:ext cx="3840120" cy="639720"/>
          </a:xfrm>
          <a:prstGeom prst="rect">
            <a:avLst/>
          </a:prstGeom>
          <a:solidFill>
            <a:srgbClr val="028090">
              <a:alpha val="15000"/>
            </a:srgbClr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731520" y="1463040"/>
            <a:ext cx="72720" cy="639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914400" y="14630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Input Layer — 800 dim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914400" y="17830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[drug | disease | |diff| | product]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2468880" y="21488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Shape 7"/>
          <p:cNvSpPr/>
          <p:nvPr/>
        </p:nvSpPr>
        <p:spPr>
          <a:xfrm>
            <a:off x="1188720" y="2468880"/>
            <a:ext cx="2925720" cy="639720"/>
          </a:xfrm>
          <a:prstGeom prst="rect">
            <a:avLst/>
          </a:prstGeom>
          <a:solidFill>
            <a:srgbClr val="00A896">
              <a:alpha val="15000"/>
            </a:srgbClr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1188720" y="2468880"/>
            <a:ext cx="72720" cy="63972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1371600" y="2468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Hidden Layer — 256 units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1371600" y="2788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BatchNorm → ReLU → Dropout(0.3)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2468880" y="31546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Shape 11"/>
          <p:cNvSpPr/>
          <p:nvPr/>
        </p:nvSpPr>
        <p:spPr>
          <a:xfrm>
            <a:off x="1645920" y="3474720"/>
            <a:ext cx="1828440" cy="639720"/>
          </a:xfrm>
          <a:prstGeom prst="rect">
            <a:avLst/>
          </a:prstGeom>
          <a:solidFill>
            <a:srgbClr val="02C39A">
              <a:alpha val="15000"/>
            </a:srgbClr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1645920" y="3474720"/>
            <a:ext cx="72720" cy="63972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1828800" y="34747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Output — 1 logit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1828800" y="37947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BCEWithLogitsLoss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5303520" y="10515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Embeddings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5303520" y="1463040"/>
            <a:ext cx="3474360" cy="100548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5486400" y="15087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BioWordVec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5486400" y="17830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Pretrained on PubMed + MIMIC-III clinical notes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200-dimensional vectors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Tokenize → lookup → mean-pool per entity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5303520" y="26974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Training Config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5303520" y="310896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Data Source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6766560" y="310896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CTD (Comparative Toxicogenomics DB)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5303520" y="336492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Pairs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6766560" y="336492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~78K (1:1 pos/neg ratio)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5303520" y="362088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Split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6766560" y="36208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70% train / 15% val / 15% test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5303520" y="387720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Optimizer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6766560" y="38772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Adam (lr = 1e-3)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5303520" y="413316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Epochs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6766560" y="413316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5303520" y="438912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Batch Size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6766560" y="438912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256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5303520" y="464508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Seed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3"/>
          <p:cNvSpPr/>
          <p:nvPr/>
        </p:nvSpPr>
        <p:spPr>
          <a:xfrm>
            <a:off x="6766560" y="46450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Performance &amp; Calibration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731520" y="109728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Model Performance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731520" y="1554480"/>
            <a:ext cx="1279800" cy="109692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731520" y="1645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28090"/>
                </a:solidFill>
                <a:effectLst/>
                <a:uFillTx/>
                <a:latin typeface="Georgia"/>
                <a:ea typeface="Georgia"/>
              </a:rPr>
              <a:t>0.947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731520" y="224028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AUC-ROC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2148840" y="1554480"/>
            <a:ext cx="1279800" cy="109692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2148840" y="1645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28090"/>
                </a:solidFill>
                <a:effectLst/>
                <a:uFillTx/>
                <a:latin typeface="Georgia"/>
                <a:ea typeface="Georgia"/>
              </a:rPr>
              <a:t>0.949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2148840" y="224028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Avg Precision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3566160" y="1554480"/>
            <a:ext cx="1279800" cy="109692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3566160" y="1645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28090"/>
                </a:solidFill>
                <a:effectLst/>
                <a:uFillTx/>
                <a:latin typeface="Georgia"/>
                <a:ea typeface="Georgia"/>
              </a:rPr>
              <a:t>87.6%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3566160" y="224028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731520" y="28346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Precision@K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731520" y="3200400"/>
            <a:ext cx="1279800" cy="50256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731520" y="320040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@10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1280160" y="3200400"/>
            <a:ext cx="731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1.000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2148840" y="3200400"/>
            <a:ext cx="1279800" cy="50256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2148840" y="320040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@50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2697480" y="3200400"/>
            <a:ext cx="731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1.000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3566160" y="3200400"/>
            <a:ext cx="1279800" cy="50256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3566160" y="3200400"/>
            <a:ext cx="54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@100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4114800" y="3200400"/>
            <a:ext cx="731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1.000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731520" y="37947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Top-ranked predictions are highly reliable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5303520" y="10972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Temperature Calibration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5303520" y="15087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Why calibrate?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5303520" y="178308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Raw model outputs are overconfident.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A predicted 90% should mean the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is right 90% of the 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5303520" y="2560320"/>
            <a:ext cx="3474360" cy="91404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7"/>
          <p:cNvSpPr/>
          <p:nvPr/>
        </p:nvSpPr>
        <p:spPr>
          <a:xfrm>
            <a:off x="5303520" y="26060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28090"/>
                </a:solidFill>
                <a:effectLst/>
                <a:uFillTx/>
                <a:latin typeface="Georgia"/>
                <a:ea typeface="Georgia"/>
              </a:rPr>
              <a:t>T = 1.384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5303520" y="30632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7A7A"/>
                </a:solidFill>
                <a:effectLst/>
                <a:uFillTx/>
                <a:latin typeface="Consolas"/>
                <a:ea typeface="Consolas"/>
              </a:rPr>
              <a:t>calibrated_prob = sigmoid(logit / 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5303520" y="36576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Confidence Tiers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0"/>
          <p:cNvSpPr/>
          <p:nvPr/>
        </p:nvSpPr>
        <p:spPr>
          <a:xfrm>
            <a:off x="5303520" y="3977640"/>
            <a:ext cx="1069560" cy="502560"/>
          </a:xfrm>
          <a:prstGeom prst="rect">
            <a:avLst/>
          </a:prstGeom>
          <a:solidFill>
            <a:srgbClr val="06D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1"/>
          <p:cNvSpPr/>
          <p:nvPr/>
        </p:nvSpPr>
        <p:spPr>
          <a:xfrm>
            <a:off x="5303520" y="3977640"/>
            <a:ext cx="106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Strong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2"/>
          <p:cNvSpPr/>
          <p:nvPr/>
        </p:nvSpPr>
        <p:spPr>
          <a:xfrm>
            <a:off x="5303520" y="4206240"/>
            <a:ext cx="106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&gt;= 80%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3"/>
          <p:cNvSpPr/>
          <p:nvPr/>
        </p:nvSpPr>
        <p:spPr>
          <a:xfrm>
            <a:off x="6464880" y="3977640"/>
            <a:ext cx="1069560" cy="502560"/>
          </a:xfrm>
          <a:prstGeom prst="rect">
            <a:avLst/>
          </a:prstGeom>
          <a:solidFill>
            <a:srgbClr val="FFD166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4"/>
          <p:cNvSpPr/>
          <p:nvPr/>
        </p:nvSpPr>
        <p:spPr>
          <a:xfrm>
            <a:off x="6464880" y="3977640"/>
            <a:ext cx="106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Moderate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5"/>
          <p:cNvSpPr/>
          <p:nvPr/>
        </p:nvSpPr>
        <p:spPr>
          <a:xfrm>
            <a:off x="6464880" y="4206240"/>
            <a:ext cx="106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50-80%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6"/>
          <p:cNvSpPr/>
          <p:nvPr/>
        </p:nvSpPr>
        <p:spPr>
          <a:xfrm>
            <a:off x="7626240" y="3977640"/>
            <a:ext cx="1069560" cy="502560"/>
          </a:xfrm>
          <a:prstGeom prst="rect">
            <a:avLst/>
          </a:prstGeom>
          <a:solidFill>
            <a:srgbClr val="94A3B8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7"/>
          <p:cNvSpPr/>
          <p:nvPr/>
        </p:nvSpPr>
        <p:spPr>
          <a:xfrm>
            <a:off x="7626240" y="3977640"/>
            <a:ext cx="106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Speculative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8"/>
          <p:cNvSpPr/>
          <p:nvPr/>
        </p:nvSpPr>
        <p:spPr>
          <a:xfrm>
            <a:off x="7626240" y="4206240"/>
            <a:ext cx="106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&lt; 50%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System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731520" y="1234440"/>
            <a:ext cx="91080" cy="5940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822960" y="1234440"/>
            <a:ext cx="4114440" cy="59400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1005840" y="12344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Intent Mapping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2743200" y="1234440"/>
            <a:ext cx="2102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Claude API resolves free-text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to CTD disease entity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731520" y="1947600"/>
            <a:ext cx="91080" cy="5940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822960" y="1947600"/>
            <a:ext cx="4114440" cy="59400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1005840" y="19476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MLP Inference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2743200" y="1947600"/>
            <a:ext cx="2102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BioWordVec embeddings 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trained model scores all drugs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731520" y="2660760"/>
            <a:ext cx="91080" cy="5940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"/>
          <p:cNvSpPr/>
          <p:nvPr/>
        </p:nvSpPr>
        <p:spPr>
          <a:xfrm>
            <a:off x="822960" y="2660760"/>
            <a:ext cx="4114440" cy="59400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1005840" y="266076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Calibration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2743200" y="2660760"/>
            <a:ext cx="2102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Temperature scaling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(T=1.38) for honest probs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731520" y="3374280"/>
            <a:ext cx="91080" cy="5940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822960" y="3374280"/>
            <a:ext cx="4114440" cy="59400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1005840" y="337428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Enrichment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2743200" y="3374280"/>
            <a:ext cx="2102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PubMed evidence counts 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FDA approval 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8"/>
          <p:cNvSpPr/>
          <p:nvPr/>
        </p:nvSpPr>
        <p:spPr>
          <a:xfrm>
            <a:off x="731520" y="4087440"/>
            <a:ext cx="91080" cy="5940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822960" y="4087440"/>
            <a:ext cx="4114440" cy="59400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1005840" y="40874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Explanation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2743200" y="4087440"/>
            <a:ext cx="2102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Claude generates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plain-English summaries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5486400" y="12344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Tech Stack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5486400" y="1691640"/>
            <a:ext cx="3200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Python + PyTorch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BioWordVec (200-dim)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Claude API (Sonnet)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Streamlit UI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PubMed + OpenFDA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Hugging Face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Build Progress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0" descr="preencoded.png"/>
          <p:cNvPicPr/>
          <p:nvPr/>
        </p:nvPicPr>
        <p:blipFill>
          <a:blip r:embed="rId1"/>
          <a:stretch/>
        </p:blipFill>
        <p:spPr>
          <a:xfrm>
            <a:off x="731520" y="128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2"/>
          <p:cNvSpPr/>
          <p:nvPr/>
        </p:nvSpPr>
        <p:spPr>
          <a:xfrm>
            <a:off x="1188720" y="12344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Data assets &amp; val 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1" descr="preencoded.png"/>
          <p:cNvPicPr/>
          <p:nvPr/>
        </p:nvPicPr>
        <p:blipFill>
          <a:blip r:embed="rId2"/>
          <a:stretch/>
        </p:blipFill>
        <p:spPr>
          <a:xfrm>
            <a:off x="731520" y="1965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3"/>
          <p:cNvSpPr/>
          <p:nvPr/>
        </p:nvSpPr>
        <p:spPr>
          <a:xfrm>
            <a:off x="1188720" y="19202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Core model (MLP + BioWordVec)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2" descr="preencoded.png"/>
          <p:cNvPicPr/>
          <p:nvPr/>
        </p:nvPicPr>
        <p:blipFill>
          <a:blip r:embed="rId3"/>
          <a:stretch/>
        </p:blipFill>
        <p:spPr>
          <a:xfrm>
            <a:off x="731520" y="26517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4"/>
          <p:cNvSpPr/>
          <p:nvPr/>
        </p:nvSpPr>
        <p:spPr>
          <a:xfrm>
            <a:off x="1188720" y="26060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Temperature calibration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3" descr="preencoded.png"/>
          <p:cNvPicPr/>
          <p:nvPr/>
        </p:nvPicPr>
        <p:blipFill>
          <a:blip r:embed="rId4"/>
          <a:stretch/>
        </p:blipFill>
        <p:spPr>
          <a:xfrm>
            <a:off x="731520" y="3337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1188720" y="32918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Intent mapper (Claude API)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4" descr="preencoded.png"/>
          <p:cNvPicPr/>
          <p:nvPr/>
        </p:nvPicPr>
        <p:blipFill>
          <a:blip r:embed="rId5"/>
          <a:stretch/>
        </p:blipFill>
        <p:spPr>
          <a:xfrm>
            <a:off x="731520" y="40233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6"/>
          <p:cNvSpPr/>
          <p:nvPr/>
        </p:nvSpPr>
        <p:spPr>
          <a:xfrm>
            <a:off x="1188720" y="39776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End-to-end inference 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5" descr="preencoded.png"/>
          <p:cNvPicPr/>
          <p:nvPr/>
        </p:nvPicPr>
        <p:blipFill>
          <a:blip r:embed="rId6"/>
          <a:stretch/>
        </p:blipFill>
        <p:spPr>
          <a:xfrm>
            <a:off x="4937760" y="128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7"/>
          <p:cNvSpPr/>
          <p:nvPr/>
        </p:nvSpPr>
        <p:spPr>
          <a:xfrm>
            <a:off x="5394960" y="12344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UI design mockups (Google Stitch)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6" descr="preencoded.png"/>
          <p:cNvPicPr/>
          <p:nvPr/>
        </p:nvPicPr>
        <p:blipFill>
          <a:blip r:embed="rId7"/>
          <a:stretch/>
        </p:blipFill>
        <p:spPr>
          <a:xfrm>
            <a:off x="4937760" y="1965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8"/>
          <p:cNvSpPr/>
          <p:nvPr/>
        </p:nvSpPr>
        <p:spPr>
          <a:xfrm>
            <a:off x="5394960" y="19202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Enrichment layer (PubMed + FDA)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7" descr="preencoded.png"/>
          <p:cNvPicPr/>
          <p:nvPr/>
        </p:nvPicPr>
        <p:blipFill>
          <a:blip r:embed="rId8"/>
          <a:stretch/>
        </p:blipFill>
        <p:spPr>
          <a:xfrm>
            <a:off x="4937760" y="26517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9"/>
          <p:cNvSpPr/>
          <p:nvPr/>
        </p:nvSpPr>
        <p:spPr>
          <a:xfrm>
            <a:off x="5394960" y="26060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Explanation layer (Claude)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8" descr="preencoded.png"/>
          <p:cNvPicPr/>
          <p:nvPr/>
        </p:nvPicPr>
        <p:blipFill>
          <a:blip r:embed="rId9"/>
          <a:stretch/>
        </p:blipFill>
        <p:spPr>
          <a:xfrm>
            <a:off x="4937760" y="3337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0"/>
          <p:cNvSpPr/>
          <p:nvPr/>
        </p:nvSpPr>
        <p:spPr>
          <a:xfrm>
            <a:off x="5394960" y="32918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Streamlit UI build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9" descr="preencoded.png"/>
          <p:cNvPicPr/>
          <p:nvPr/>
        </p:nvPicPr>
        <p:blipFill>
          <a:blip r:embed="rId10"/>
          <a:stretch/>
        </p:blipFill>
        <p:spPr>
          <a:xfrm>
            <a:off x="4937760" y="40233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11"/>
          <p:cNvSpPr/>
          <p:nvPr/>
        </p:nvSpPr>
        <p:spPr>
          <a:xfrm>
            <a:off x="5394960" y="39776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Tests + deployment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731520" y="4389120"/>
            <a:ext cx="7680600" cy="164160"/>
          </a:xfrm>
          <a:prstGeom prst="rect">
            <a:avLst/>
          </a:prstGeom>
          <a:solidFill>
            <a:srgbClr val="E8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731520" y="4389120"/>
            <a:ext cx="4608360" cy="1641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731520" y="411480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60% Complete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31520" y="3657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UI Design Preview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731520" y="960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Designed in Google Stitch — mockups guide our Streamlit build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731520" y="1371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731520" y="1737360"/>
            <a:ext cx="3657240" cy="292572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/Users/berlin/biolink_v2/design/1_search_landing.png"/>
          <p:cNvPicPr/>
          <p:nvPr/>
        </p:nvPicPr>
        <p:blipFill>
          <a:blip r:embed="rId1"/>
          <a:stretch/>
        </p:blipFill>
        <p:spPr>
          <a:xfrm>
            <a:off x="731520" y="1737360"/>
            <a:ext cx="3657240" cy="29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Image 1" descr="preencoded.png"/>
          <p:cNvPicPr/>
          <p:nvPr/>
        </p:nvPicPr>
        <p:blipFill>
          <a:blip r:embed="rId2"/>
          <a:stretch/>
        </p:blipFill>
        <p:spPr>
          <a:xfrm>
            <a:off x="4434840" y="2926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5"/>
          <p:cNvSpPr/>
          <p:nvPr/>
        </p:nvSpPr>
        <p:spPr>
          <a:xfrm>
            <a:off x="4754880" y="1371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4754880" y="1737360"/>
            <a:ext cx="3657240" cy="292572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2" descr="/Users/berlin/biolink_v2/design/4_results_dashboard.png"/>
          <p:cNvPicPr/>
          <p:nvPr/>
        </p:nvPicPr>
        <p:blipFill>
          <a:blip r:embed="rId3"/>
          <a:stretch/>
        </p:blipFill>
        <p:spPr>
          <a:xfrm>
            <a:off x="4754880" y="1737360"/>
            <a:ext cx="3657240" cy="292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73152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Team &amp; Next Steps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731520" y="1005840"/>
            <a:ext cx="2468520" cy="105120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1691640" y="10789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3"/>
          <p:cNvSpPr/>
          <p:nvPr/>
        </p:nvSpPr>
        <p:spPr>
          <a:xfrm>
            <a:off x="731520" y="14173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Dustin Haggett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731520" y="16642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Lead — Core pipeline,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calibration, architecture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3474720" y="1005840"/>
            <a:ext cx="2468520" cy="105120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2"/>
          <a:stretch/>
        </p:blipFill>
        <p:spPr>
          <a:xfrm>
            <a:off x="4434840" y="10789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6"/>
          <p:cNvSpPr/>
          <p:nvPr/>
        </p:nvSpPr>
        <p:spPr>
          <a:xfrm>
            <a:off x="3474720" y="14173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Kera Prosper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3474720" y="16642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Explanation layer,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tests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6217920" y="1005840"/>
            <a:ext cx="2468520" cy="1051200"/>
          </a:xfrm>
          <a:prstGeom prst="rect">
            <a:avLst/>
          </a:prstGeom>
          <a:solidFill>
            <a:srgbClr val="F0F7F4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2" descr="preencoded.png"/>
          <p:cNvPicPr/>
          <p:nvPr/>
        </p:nvPicPr>
        <p:blipFill>
          <a:blip r:embed="rId3"/>
          <a:stretch/>
        </p:blipFill>
        <p:spPr>
          <a:xfrm>
            <a:off x="7178040" y="10789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9"/>
          <p:cNvSpPr/>
          <p:nvPr/>
        </p:nvSpPr>
        <p:spPr>
          <a:xfrm>
            <a:off x="6217920" y="14173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Mia Braun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6217920" y="16642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Enrichment layer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(PubMed + FDA)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731520" y="2286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2B3C"/>
                </a:solidFill>
                <a:effectLst/>
                <a:uFillTx/>
                <a:latin typeface="Georgia"/>
                <a:ea typeface="Georgia"/>
              </a:rPr>
              <a:t>Immediate Next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731520" y="2651760"/>
            <a:ext cx="7680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Build enrichment layer — async PubMed &amp; OpenFDA lookups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Build explanation layer — Claude-generated plain-English summaries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Implement Streamlit UI from Google Stitch mockups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2B3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0F2B3C"/>
                </a:solidFill>
                <a:effectLst/>
                <a:uFillTx/>
                <a:latin typeface="Calibri"/>
                <a:ea typeface="Calibri"/>
              </a:rPr>
              <a:t>Unit tests with mocked APIs, then deploy to Hugging Face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3"/>
          <p:cNvSpPr/>
          <p:nvPr/>
        </p:nvSpPr>
        <p:spPr>
          <a:xfrm>
            <a:off x="731520" y="4389120"/>
            <a:ext cx="7680600" cy="456840"/>
          </a:xfrm>
          <a:prstGeom prst="rect">
            <a:avLst/>
          </a:prstGeom>
          <a:solidFill>
            <a:srgbClr val="F0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3" descr="preencoded.png"/>
          <p:cNvPicPr/>
          <p:nvPr/>
        </p:nvPicPr>
        <p:blipFill>
          <a:blip r:embed="rId4"/>
          <a:stretch/>
        </p:blipFill>
        <p:spPr>
          <a:xfrm>
            <a:off x="914400" y="4453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4"/>
          <p:cNvSpPr/>
          <p:nvPr/>
        </p:nvSpPr>
        <p:spPr>
          <a:xfrm>
            <a:off x="1325880" y="438912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7A7A"/>
                </a:solidFill>
                <a:effectLst/>
                <a:uFillTx/>
                <a:latin typeface="Calibri"/>
                <a:ea typeface="Calibri"/>
              </a:rPr>
              <a:t>Repo is public with branch protection — all contributions via PRs with code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-914400" y="2743200"/>
            <a:ext cx="2742840" cy="2742840"/>
          </a:xfrm>
          <a:prstGeom prst="ellipse">
            <a:avLst/>
          </a:prstGeom>
          <a:solidFill>
            <a:srgbClr val="02809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7315200" y="-914400"/>
            <a:ext cx="3200040" cy="3200040"/>
          </a:xfrm>
          <a:prstGeom prst="ellipse">
            <a:avLst/>
          </a:prstGeom>
          <a:solidFill>
            <a:srgbClr val="00A89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914400" y="164592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Questions?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914400" y="265176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github.com/dustinhaggett/biolink-v2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914400" y="33832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F0EE"/>
                </a:solidFill>
                <a:effectLst/>
                <a:uFillTx/>
                <a:latin typeface="Calibri"/>
                <a:ea typeface="Calibri"/>
              </a:rPr>
              <a:t>Dustin Haggett  |  Kera Prosper  |  Mia Braun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LibreOffice/26.2.1.2$MacOSX_AARCH64 LibreOffice_project/8399f6259d8c87f40e7255cdb3c9b958f5e08948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2026-03-26T23:26:23Z</dcterms:created>
  <dc:creator>Dustin Haggett</dc:creator>
  <dc:description/>
  <dc:language>en-US</dc:language>
  <cp:lastModifiedBy/>
  <cp:lastPrinted>2026-03-26T20:35:36Z</cp:lastPrinted>
  <dcterms:modified xsi:type="dcterms:W3CDTF">2026-03-26T20:35:54Z</dcterms:modified>
  <cp:revision>2</cp:revision>
  <dc:subject>PptxGenJS Presentation</dc:subject>
  <dc:title>BioLink — Progress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