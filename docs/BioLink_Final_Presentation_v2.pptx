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1005840"/>
            <a:ext cx="6309360" cy="2468880"/>
          </a:xfrm>
          <a:prstGeom prst="roundRect">
            <a:avLst/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7680" y="320040"/>
            <a:ext cx="3108960" cy="237744"/>
          </a:xfrm>
          <a:prstGeom prst="roundRect">
            <a:avLst>
              <a:gd name="adj" fmla="val 50000"/>
            </a:avLst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00606D"/>
                </a:solidFill>
                <a:latin typeface="Manrope"/>
              </a:rPr>
              <a:t>AAI 595 - APPLIED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606D"/>
                </a:solidFill>
                <a:latin typeface="Manrope"/>
              </a:defRPr>
            </a:pPr>
            <a:r>
              <a:t>BioLink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67987"/>
                </a:solidFill>
                <a:latin typeface="Manrope"/>
              </a:defRPr>
            </a:pPr>
            <a:r>
              <a:t>AI-Powered Drug Repurposing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F484B"/>
                </a:solidFill>
                <a:latin typeface="Inter"/>
              </a:defRPr>
            </a:pPr>
            <a:r>
              <a:t>Turning a research model into a tool that patients, researchers, and clinicians can actually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8404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C1D"/>
                </a:solidFill>
                <a:latin typeface="Manrope"/>
              </a:defRPr>
            </a:pPr>
            <a:r>
              <a:t>Dustin Haggett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8404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C1D"/>
                </a:solidFill>
                <a:latin typeface="Manrope"/>
              </a:defRPr>
            </a:pPr>
            <a:r>
              <a:t>Kera Prosper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8404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C1D"/>
                </a:solidFill>
                <a:latin typeface="Manrope"/>
              </a:defRPr>
            </a:pPr>
            <a:r>
              <a:t>Mia Braun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663440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065F46"/>
                </a:solidFill>
                <a:latin typeface="Manrope"/>
              </a:rPr>
              <a:t>LIVE DEMO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64515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06D"/>
                </a:solidFill>
                <a:latin typeface="Inter"/>
              </a:defRPr>
            </a:pPr>
            <a:r>
              <a:t>huggingface.co/spaces/dustinhaggett/biolink-v2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577"/>
                </a:solidFill>
                <a:latin typeface="Inter"/>
              </a:defRPr>
            </a:pPr>
            <a:r>
              <a:t>AAI 595 - Applied Machine Learning  |  Dr. Tao Han  |  Stevens Institute of Technology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577"/>
                </a:solidFill>
                <a:latin typeface="Inter"/>
              </a:defRPr>
            </a:pPr>
            <a:r>
              <a:t>BIOLINK | AAI 595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6510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577"/>
                </a:solidFill>
                <a:latin typeface="Inter"/>
              </a:defRPr>
            </a:pPr>
            <a:r>
              <a:t>SLIDE 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00606D"/>
                </a:solidFill>
                <a:latin typeface="Manrope"/>
              </a:rP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286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606D"/>
                </a:solidFill>
                <a:latin typeface="Manrope"/>
              </a:defRPr>
            </a:pPr>
            <a:r>
              <a:t>BioLink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4751"/>
                </a:solidFill>
                <a:latin typeface="Manrope"/>
              </a:defRPr>
            </a:pPr>
            <a:r>
              <a:t>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3291840" cy="1051560"/>
          </a:xfrm>
          <a:prstGeom prst="roundRect">
            <a:avLst/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2600" b="1">
                <a:solidFill>
                  <a:srgbClr val="00606D"/>
                </a:solidFill>
                <a:latin typeface="Manrope"/>
              </a:defRPr>
            </a:pPr>
            <a:r>
              <a:t>10-15 Years</a:t>
            </a:r>
          </a:p>
          <a:p>
            <a:pPr>
              <a:defRPr sz="1000">
                <a:solidFill>
                  <a:srgbClr val="3F484B"/>
                </a:solidFill>
                <a:latin typeface="Inter"/>
              </a:defRPr>
            </a:pPr>
            <a:r>
              <a:t>Average time to bring a new drug</a:t>
            </a:r>
            <a:br/>
            <a:r>
              <a:t>from discovery to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43000"/>
            <a:ext cx="3291840" cy="1051560"/>
          </a:xfrm>
          <a:prstGeom prst="roundRect">
            <a:avLst/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2600" b="1">
                <a:solidFill>
                  <a:srgbClr val="00606D"/>
                </a:solidFill>
                <a:latin typeface="Manrope"/>
              </a:defRPr>
            </a:pPr>
            <a:r>
              <a:t>$2.6 Billion</a:t>
            </a:r>
          </a:p>
          <a:p>
            <a:pPr>
              <a:defRPr sz="1000">
                <a:solidFill>
                  <a:srgbClr val="3F484B"/>
                </a:solidFill>
                <a:latin typeface="Inter"/>
              </a:defRPr>
            </a:pPr>
            <a:r>
              <a:t>Average cost per approved drug</a:t>
            </a:r>
            <a:br/>
            <a:r>
              <a:t>(DiMasi et al., 2016)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143000"/>
            <a:ext cx="3291840" cy="1051560"/>
          </a:xfrm>
          <a:prstGeom prst="roundRect">
            <a:avLst/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2600" b="1">
                <a:solidFill>
                  <a:srgbClr val="00606D"/>
                </a:solidFill>
                <a:latin typeface="Manrope"/>
              </a:defRPr>
            </a:pPr>
            <a:r>
              <a:t>&gt;90% Failure</a:t>
            </a:r>
          </a:p>
          <a:p>
            <a:pPr>
              <a:defRPr sz="1000">
                <a:solidFill>
                  <a:srgbClr val="3F484B"/>
                </a:solidFill>
                <a:latin typeface="Inter"/>
              </a:defRPr>
            </a:pPr>
            <a:r>
              <a:t>Nine out of ten drug candidates</a:t>
            </a:r>
            <a:br/>
            <a:r>
              <a:t>never make it through trials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62179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0606D"/>
                </a:solidFill>
                <a:latin typeface="Manrope"/>
              </a:defRPr>
            </a:pPr>
            <a:r>
              <a:t>Drug Repurposing Success Stories</a:t>
            </a:r>
          </a:p>
          <a:p>
            <a:pPr>
              <a:defRPr sz="1300">
                <a:solidFill>
                  <a:srgbClr val="3F484B"/>
                </a:solidFill>
                <a:latin typeface="Inter"/>
              </a:defRPr>
            </a:pPr>
            <a:r>
              <a:t>1.  Thalidomide — Sedative repurposed as</a:t>
            </a:r>
            <a:br/>
            <a:r>
              <a:t>     multiple myeloma treatment</a:t>
            </a:r>
            <a:br/>
            <a:br/>
            <a:r>
              <a:t>2.  Minoxidil — Blood pressure med</a:t>
            </a:r>
            <a:br/>
            <a:r>
              <a:t>     repurposed for hair loss treatment</a:t>
            </a:r>
            <a:br/>
            <a:br/>
            <a:r>
              <a:t>3.  Metformin — Diabetes drug showing</a:t>
            </a:r>
            <a:br/>
            <a:r>
              <a:t>     promise in cancer &amp; aging research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423160"/>
            <a:ext cx="40233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BA1A1A"/>
                </a:solidFill>
                <a:latin typeface="Manrope"/>
              </a:defRPr>
            </a:pPr>
            <a:r>
              <a:t>THE GAP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"No accessible tool exists that combines</a:t>
            </a:r>
            <a:br/>
            <a:r>
              <a:t>ML predictions with real-world evidence</a:t>
            </a:r>
            <a:br/>
            <a:r>
              <a:t>for drug repurposing."</a:t>
            </a:r>
            <a:br/>
            <a:br/>
            <a:r>
              <a:t>Manual Process: Deep domain expertise</a:t>
            </a:r>
            <a:br/>
            <a:r>
              <a:t>and exhaustive literature review required</a:t>
            </a:r>
            <a:br/>
            <a:br/>
            <a:r>
              <a:t>Access Barrier: Existing databases are</a:t>
            </a:r>
            <a:br/>
            <a:r>
              <a:t>expensive and specialized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698480" cy="457200"/>
          </a:xfrm>
          <a:prstGeom prst="roundRect">
            <a:avLst/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300" b="1">
                <a:solidFill>
                  <a:srgbClr val="004751"/>
                </a:solidFill>
                <a:latin typeface="Manrope"/>
              </a:defRPr>
            </a:pPr>
            <a:r>
              <a:t>Drug development is broken. Thousands of existing drugs could help — if we could find the connections.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577"/>
                </a:solidFill>
                <a:latin typeface="Inter"/>
              </a:defRPr>
            </a:pPr>
            <a:r>
              <a:t>BIOLINK | AAI 595 | STEVENS INSTITUTE OF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510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577"/>
                </a:solidFill>
                <a:latin typeface="Inter"/>
              </a:defRPr>
            </a:pPr>
            <a:r>
              <a:t>SLIDE 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00606D"/>
                </a:solidFill>
                <a:latin typeface="Manrope"/>
              </a:rPr>
              <a:t>AI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4751"/>
                </a:solidFill>
                <a:latin typeface="Manrope"/>
              </a:defRPr>
            </a:pPr>
            <a:r>
              <a:t>Why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F484B"/>
                </a:solidFill>
                <a:latin typeface="Inter"/>
              </a:defRPr>
            </a:pPr>
            <a:r>
              <a:t>The drug-disease relationship space is too large for humans to search manually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0606D"/>
                </a:solidFill>
                <a:latin typeface="Manrope"/>
              </a:defRPr>
            </a:pPr>
            <a:r>
              <a:t>Scale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7,163 drugs x 2,525 diseases</a:t>
            </a:r>
            <a:br/>
            <a:r>
              <a:t>= 18 million possible pairs</a:t>
            </a:r>
            <a:br/>
            <a:br/>
            <a:r>
              <a:t>380,000 known associations in CTD.</a:t>
            </a:r>
            <a:br/>
            <a:r>
              <a:t>A human cannot screen even 1%.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0606D"/>
                </a:solidFill>
                <a:latin typeface="Manrope"/>
              </a:defRPr>
            </a:pPr>
            <a:r>
              <a:t>Pattern Recognition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ML captures latent patterns in</a:t>
            </a:r>
            <a:br/>
            <a:r>
              <a:t>biomedical knowledge graphs:</a:t>
            </a:r>
            <a:br/>
            <a:br/>
            <a:r>
              <a:t>- Shared molecular pathways</a:t>
            </a:r>
            <a:br/>
            <a:r>
              <a:t>- Protein target relationships</a:t>
            </a:r>
            <a:br/>
            <a:r>
              <a:t>- Chemical-gene interactions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65F46"/>
                </a:solidFill>
                <a:latin typeface="Manrope"/>
              </a:defRPr>
            </a:pPr>
            <a:r>
              <a:t>Proven Accuracy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BioLink v1: AUC of 0.947 on</a:t>
            </a:r>
            <a:br/>
            <a:r>
              <a:t>held-out CTD data — reliably</a:t>
            </a:r>
            <a:br/>
            <a:r>
              <a:t>distinguishing real drug-disease</a:t>
            </a:r>
            <a:br/>
            <a:r>
              <a:t>associations from random pairings.</a:t>
            </a:r>
            <a:br/>
            <a:br/>
            <a:r>
              <a:t>v2 makes this accessible.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1C1D"/>
                </a:solidFill>
                <a:latin typeface="Manrope"/>
              </a:defRPr>
            </a:pPr>
            <a:r>
              <a:t>AI at three levels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32918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92400E"/>
                </a:solidFill>
                <a:latin typeface="Manrope"/>
              </a:defRPr>
            </a:pPr>
            <a:r>
              <a:t>Level 1: Prediction (MLP)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Trained MLP classifier scores all</a:t>
            </a:r>
            <a:br/>
            <a:r>
              <a:t>7,163 drugs in ~100ms.</a:t>
            </a:r>
            <a:br/>
            <a:br/>
            <a:r>
              <a:t>Test AUC: 0.947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749039"/>
            <a:ext cx="32918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00606D"/>
                </a:solidFill>
                <a:latin typeface="Manrope"/>
              </a:defRPr>
            </a:pPr>
            <a:r>
              <a:t>Level 2: Understanding (LLMs)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Claude Haiku resolves natural</a:t>
            </a:r>
            <a:br/>
            <a:r>
              <a:t>language to CTD entities and</a:t>
            </a:r>
            <a:br/>
            <a:r>
              <a:t>generates explanations.</a:t>
            </a:r>
            <a:br/>
            <a:br/>
            <a:r>
              <a:t>7,163 drugs scored per 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749039"/>
            <a:ext cx="32918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BA1A1A"/>
                </a:solidFill>
                <a:latin typeface="Manrope"/>
              </a:defRPr>
            </a:pPr>
            <a:r>
              <a:t>Level 3: Validation (Perplexity)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Perplexity Sonar searches published</a:t>
            </a:r>
            <a:br/>
            <a:r>
              <a:t>literature to ground every</a:t>
            </a:r>
            <a:br/>
            <a:r>
              <a:t>prediction in evidence.</a:t>
            </a:r>
            <a:br/>
            <a:br/>
            <a:r>
              <a:t>5 APIs integrated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577"/>
                </a:solidFill>
                <a:latin typeface="Inter"/>
              </a:defRPr>
            </a:pPr>
            <a:r>
              <a:t>BIOLINK | AAI 595 | STEVENS INSTITUTE OF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6510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577"/>
                </a:solidFill>
                <a:latin typeface="Inter"/>
              </a:defRPr>
            </a:pPr>
            <a:r>
              <a:t>SLIDE 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00606D"/>
                </a:solidFill>
                <a:latin typeface="Manrope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577"/>
                </a:solidFill>
                <a:latin typeface="Inter"/>
              </a:defRPr>
            </a:pPr>
            <a:r>
              <a:t>BIOLINK | AAI 595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751"/>
                </a:solidFill>
                <a:latin typeface="Manrope"/>
              </a:defRPr>
            </a:pPr>
            <a:r>
              <a:t>BioLink: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F484B"/>
                </a:solidFill>
                <a:latin typeface="Inter"/>
              </a:defRPr>
            </a:pPr>
            <a:r>
              <a:t>A web app that makes drug repurposing research accessible to everyone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600" b="1">
                <a:solidFill>
                  <a:srgbClr val="00606D"/>
                </a:solidFill>
                <a:latin typeface="Manrope"/>
              </a:defRPr>
            </a:pPr>
            <a:r>
              <a:t>Disease Search</a:t>
            </a:r>
          </a:p>
          <a:p>
            <a:pPr>
              <a:defRPr sz="1300">
                <a:solidFill>
                  <a:srgbClr val="3F484B"/>
                </a:solidFill>
                <a:latin typeface="Inter"/>
              </a:defRPr>
            </a:pPr>
            <a:r>
              <a:t>"What drugs might treat Lyme Disease?"</a:t>
            </a:r>
            <a:br/>
            <a:br/>
            <a:r>
              <a:t>Ranks all 7,163 drugs with calibrated</a:t>
            </a:r>
            <a:br/>
            <a:r>
              <a:t>confidence (Strong / Moderate / Speculative)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2120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600" b="1">
                <a:solidFill>
                  <a:srgbClr val="00606D"/>
                </a:solidFill>
                <a:latin typeface="Manrope"/>
              </a:defRPr>
            </a:pPr>
            <a:r>
              <a:t>Drug Search (Reverse)</a:t>
            </a:r>
          </a:p>
          <a:p>
            <a:pPr>
              <a:defRPr sz="1300">
                <a:solidFill>
                  <a:srgbClr val="3F484B"/>
                </a:solidFill>
                <a:latin typeface="Inter"/>
              </a:defRPr>
            </a:pPr>
            <a:r>
              <a:t>"I'm taking Metformin — what else might it help?"</a:t>
            </a:r>
            <a:br/>
            <a:br/>
            <a:r>
              <a:t>Scores all 2,525 diseases against a single drug</a:t>
            </a:r>
            <a:br/>
            <a:r>
              <a:t>with the same evidence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256032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65F46"/>
                </a:solidFill>
                <a:latin typeface="Manrope"/>
              </a:defRPr>
            </a:pPr>
            <a:r>
              <a:t>Evidence Verdicts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Supports, Standard-of-Care,</a:t>
            </a:r>
            <a:br/>
            <a:r>
              <a:t>Conflicts, or Insufficient —</a:t>
            </a:r>
            <a:br/>
            <a:r>
              <a:t>showing when model and</a:t>
            </a:r>
            <a:br/>
            <a:r>
              <a:t>literature agree or disagree.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971800"/>
            <a:ext cx="256032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0606D"/>
                </a:solidFill>
                <a:latin typeface="Manrope"/>
              </a:defRPr>
            </a:pPr>
            <a:r>
              <a:t>Clinical Trials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Automatic ClinicalTrials.gov</a:t>
            </a:r>
            <a:br/>
            <a:r>
              <a:t>lookup with active trial counts</a:t>
            </a:r>
            <a:br/>
            <a:r>
              <a:t>and direct enrollment links.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971800"/>
            <a:ext cx="256032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92400E"/>
                </a:solidFill>
                <a:latin typeface="Manrope"/>
              </a:defRPr>
            </a:pPr>
            <a:r>
              <a:t>Compare &amp; Export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Side-by-side comparison,</a:t>
            </a:r>
            <a:br/>
            <a:r>
              <a:t>PDF reports for doctors,</a:t>
            </a:r>
            <a:br/>
            <a:r>
              <a:t>CSV export, follow-up Q&amp;A.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2971800"/>
            <a:ext cx="228600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BA1A1A"/>
                </a:solidFill>
                <a:latin typeface="Manrope"/>
              </a:defRPr>
            </a:pPr>
            <a:r>
              <a:t>Safety First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Drug interaction warnings,</a:t>
            </a:r>
            <a:br/>
            <a:r>
              <a:t>evidence quality ratings,</a:t>
            </a:r>
            <a:br/>
            <a:r>
              <a:t>pathway visualization,</a:t>
            </a:r>
            <a:br/>
            <a:r>
              <a:t>medical disclaimers.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10698480" cy="594360"/>
          </a:xfrm>
          <a:prstGeom prst="roundRect">
            <a:avLst/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84632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065F46"/>
                </a:solidFill>
                <a:latin typeface="Manrope"/>
              </a:rPr>
              <a:t>DEPLOYED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82803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606D"/>
                </a:solidFill>
                <a:latin typeface="Inter"/>
              </a:defRPr>
            </a:pPr>
            <a:r>
              <a:t>Live at huggingface.co/spaces/dustinhaggett/biolink-v2  |  Works without API keys — keys unlock full LLM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577"/>
                </a:solidFill>
                <a:latin typeface="Inter"/>
              </a:defRPr>
            </a:pPr>
            <a:r>
              <a:t>BIOLINK | AAI 595 | STEVENS INSTITUTE OF TECHNOLOGY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510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577"/>
                </a:solidFill>
                <a:latin typeface="Inter"/>
              </a:defRPr>
            </a:pPr>
            <a:r>
              <a:t>SLIDE 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00606D"/>
                </a:solidFill>
                <a:latin typeface="Manrope"/>
              </a:rPr>
              <a:t>TECHNICAL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751"/>
                </a:solidFill>
                <a:latin typeface="Manrope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F484B"/>
                </a:solidFill>
                <a:latin typeface="Inter"/>
              </a:defRPr>
            </a:pPr>
            <a:r>
              <a:t>6-stage pipeline from natural language input to evidence-grounded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7830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000" b="1">
                <a:solidFill>
                  <a:srgbClr val="00606D"/>
                </a:solidFill>
                <a:latin typeface="Manrope"/>
              </a:defRPr>
            </a:pPr>
            <a:r>
              <a:t>01  INPUT</a:t>
            </a:r>
          </a:p>
          <a:p>
            <a:pPr>
              <a:defRPr sz="1000">
                <a:solidFill>
                  <a:srgbClr val="3F484B"/>
                </a:solidFill>
                <a:latin typeface="Inter"/>
              </a:defRPr>
            </a:pPr>
            <a:r>
              <a:t>User types disease</a:t>
            </a:r>
            <a:br/>
            <a:r>
              <a:t>or drug 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04288" y="1371600"/>
            <a:ext cx="17830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000" b="1">
                <a:solidFill>
                  <a:srgbClr val="00606D"/>
                </a:solidFill>
                <a:latin typeface="Manrope"/>
              </a:defRPr>
            </a:pPr>
            <a:r>
              <a:t>02  RESOLUTION</a:t>
            </a:r>
          </a:p>
          <a:p>
            <a:pPr>
              <a:defRPr sz="1000">
                <a:solidFill>
                  <a:srgbClr val="3F484B"/>
                </a:solidFill>
                <a:latin typeface="Inter"/>
              </a:defRPr>
            </a:pPr>
            <a:r>
              <a:t>Claude Haiku maps</a:t>
            </a:r>
            <a:br/>
            <a:r>
              <a:t>to CTD entity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2816" y="1371600"/>
            <a:ext cx="17830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000" b="1">
                <a:solidFill>
                  <a:srgbClr val="00606D"/>
                </a:solidFill>
                <a:latin typeface="Manrope"/>
              </a:defRPr>
            </a:pPr>
            <a:r>
              <a:t>03  MLP SCORING</a:t>
            </a:r>
          </a:p>
          <a:p>
            <a:pPr>
              <a:defRPr sz="1000">
                <a:solidFill>
                  <a:srgbClr val="3F484B"/>
                </a:solidFill>
                <a:latin typeface="Inter"/>
              </a:defRPr>
            </a:pPr>
            <a:r>
              <a:t>Score 7,163 drugs</a:t>
            </a:r>
            <a:br/>
            <a:r>
              <a:t>in ~100ms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371600"/>
            <a:ext cx="17830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000" b="1">
                <a:solidFill>
                  <a:srgbClr val="00606D"/>
                </a:solidFill>
                <a:latin typeface="Manrope"/>
              </a:defRPr>
            </a:pPr>
            <a:r>
              <a:t>04  CALIBRATION</a:t>
            </a:r>
          </a:p>
          <a:p>
            <a:pPr>
              <a:defRPr sz="1000">
                <a:solidFill>
                  <a:srgbClr val="3F484B"/>
                </a:solidFill>
                <a:latin typeface="Inter"/>
              </a:defRPr>
            </a:pPr>
            <a:r>
              <a:t>Temperature scaling</a:t>
            </a:r>
            <a:br/>
            <a:r>
              <a:t>for honest probs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371600"/>
            <a:ext cx="17830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000" b="1">
                <a:solidFill>
                  <a:srgbClr val="00606D"/>
                </a:solidFill>
                <a:latin typeface="Manrope"/>
              </a:defRPr>
            </a:pPr>
            <a:r>
              <a:t>05  ENRICHMENT</a:t>
            </a:r>
          </a:p>
          <a:p>
            <a:pPr>
              <a:defRPr sz="1000">
                <a:solidFill>
                  <a:srgbClr val="3F484B"/>
                </a:solidFill>
                <a:latin typeface="Inter"/>
              </a:defRPr>
            </a:pPr>
            <a:r>
              <a:t>PubMed + FDA +</a:t>
            </a:r>
            <a:br/>
            <a:r>
              <a:t>Trials in parallel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371600"/>
            <a:ext cx="17830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000" b="1">
                <a:solidFill>
                  <a:srgbClr val="00606D"/>
                </a:solidFill>
                <a:latin typeface="Manrope"/>
              </a:defRPr>
            </a:pPr>
            <a:r>
              <a:t>06  EVIDENCE</a:t>
            </a:r>
          </a:p>
          <a:p>
            <a:pPr>
              <a:defRPr sz="1000">
                <a:solidFill>
                  <a:srgbClr val="3F484B"/>
                </a:solidFill>
                <a:latin typeface="Inter"/>
              </a:defRPr>
            </a:pPr>
            <a:r>
              <a:t>Perplexity grounds</a:t>
            </a:r>
            <a:br/>
            <a:r>
              <a:t>in literature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9696" y="1783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606D"/>
                </a:solidFill>
                <a:latin typeface="Inter"/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8224" y="1783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606D"/>
                </a:solidFill>
                <a:latin typeface="Inter"/>
              </a:defRPr>
            </a:pPr>
            <a: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1783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606D"/>
                </a:solidFill>
                <a:latin typeface="Inter"/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1783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606D"/>
                </a:solidFill>
                <a:latin typeface="Inter"/>
              </a:defRPr>
            </a:pPr>
            <a: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3808" y="1783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606D"/>
                </a:solidFill>
                <a:latin typeface="Inter"/>
              </a:defRPr>
            </a:pPr>
            <a: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3464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017520"/>
            <a:ext cx="338328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0606D"/>
                </a:solidFill>
                <a:latin typeface="Manrope"/>
              </a:defRPr>
            </a:pPr>
            <a:r>
              <a:t>Multi-Layer Perceptron</a:t>
            </a:r>
          </a:p>
          <a:p>
            <a:pPr>
              <a:defRPr sz="1100">
                <a:solidFill>
                  <a:srgbClr val="3F484B"/>
                </a:solidFill>
                <a:latin typeface="Inter"/>
              </a:defRPr>
            </a:pPr>
            <a:r>
              <a:t>Input: 800-dim feature vector</a:t>
            </a:r>
            <a:br/>
            <a:r>
              <a:t>[drug_emb, disease_emb,</a:t>
            </a:r>
            <a:br/>
            <a:r>
              <a:t> |drug-disease|, drug*disease]</a:t>
            </a:r>
            <a:br/>
            <a:br/>
            <a:r>
              <a:t>Hidden: 256 neurons + BatchNorm</a:t>
            </a:r>
            <a:br/>
            <a:r>
              <a:t>+ ReLU + 30% Dropout</a:t>
            </a:r>
            <a:br/>
            <a:r>
              <a:t>Output: single logit</a:t>
            </a:r>
            <a:br/>
            <a:br/>
            <a:r>
              <a:t>Training: ~380K CTD pairs</a:t>
            </a:r>
            <a:br/>
            <a:r>
              <a:t>Test AUC: 0.947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017520"/>
            <a:ext cx="338328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0606D"/>
                </a:solidFill>
                <a:latin typeface="Manrope"/>
              </a:defRPr>
            </a:pPr>
            <a:r>
              <a:t>BioWordVec Embeddings</a:t>
            </a:r>
          </a:p>
          <a:p>
            <a:pPr>
              <a:defRPr sz="1100">
                <a:solidFill>
                  <a:srgbClr val="3F484B"/>
                </a:solidFill>
                <a:latin typeface="Inter"/>
              </a:defRPr>
            </a:pPr>
            <a:r>
              <a:t>200-dim vectors pre-trained on</a:t>
            </a:r>
            <a:br/>
            <a:r>
              <a:t>PubMed + MIMIC-III clinical notes</a:t>
            </a:r>
            <a:br/>
            <a:br/>
            <a:r>
              <a:t>Captures biomedical semantics:</a:t>
            </a:r>
            <a:br/>
            <a:r>
              <a:t>- Drug mechanism relationships</a:t>
            </a:r>
            <a:br/>
            <a:r>
              <a:t>- Disease pathway similarities</a:t>
            </a:r>
            <a:br/>
            <a:r>
              <a:t>- Chemical-protein interactions</a:t>
            </a:r>
            <a:br/>
            <a:br/>
            <a:r>
              <a:t>7,163 drug + 2,525 disease</a:t>
            </a:r>
            <a:br/>
            <a:r>
              <a:t>vectors cached (7.7 MB)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017520"/>
            <a:ext cx="338328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0606D"/>
                </a:solidFill>
                <a:latin typeface="Manrope"/>
              </a:defRPr>
            </a:pPr>
            <a:r>
              <a:t>Temperature Calibration</a:t>
            </a:r>
          </a:p>
          <a:p>
            <a:pPr>
              <a:defRPr sz="1100">
                <a:solidFill>
                  <a:srgbClr val="3F484B"/>
                </a:solidFill>
                <a:latin typeface="Inter"/>
              </a:defRPr>
            </a:pPr>
            <a:r>
              <a:t>P = sigmoid(logit / T)</a:t>
            </a:r>
            <a:br/>
            <a:r>
              <a:t>T fitted on validation set</a:t>
            </a:r>
            <a:br/>
            <a:r>
              <a:t>Minimizes neg log-likelihood</a:t>
            </a:r>
            <a:br/>
            <a:br/>
            <a:r>
              <a:t>Confidence Tiers:</a:t>
            </a:r>
            <a:br/>
            <a:r>
              <a:t>  Strong:      &gt;= 80%</a:t>
            </a:r>
            <a:br/>
            <a:r>
              <a:t>  Moderate:    50-79%</a:t>
            </a:r>
            <a:br/>
            <a:r>
              <a:t>  Speculative: &lt; 50%</a:t>
            </a:r>
            <a:br/>
            <a:br/>
            <a:r>
              <a:t>Ensures "80%" means the model</a:t>
            </a:r>
            <a:br/>
            <a:r>
              <a:t>is right ~80% of the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577"/>
                </a:solidFill>
                <a:latin typeface="Inter"/>
              </a:defRPr>
            </a:pPr>
            <a:r>
              <a:t>BIOLINK | AAI 595 APPLIED MACHINE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510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577"/>
                </a:solidFill>
                <a:latin typeface="Inter"/>
              </a:defRPr>
            </a:pPr>
            <a:r>
              <a:t>SLIDE 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00606D"/>
                </a:solidFill>
                <a:latin typeface="Manrope"/>
              </a:rPr>
              <a:t>TECHNICAL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606D"/>
                </a:solidFill>
                <a:latin typeface="Manrope"/>
              </a:defRPr>
            </a:pPr>
            <a:r>
              <a:t>BioLink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4751"/>
                </a:solidFill>
                <a:latin typeface="Manrope"/>
              </a:defRPr>
            </a:pPr>
            <a:r>
              <a:t>Multi-API Integration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F484B"/>
                </a:solidFill>
                <a:latin typeface="Inter"/>
              </a:defRPr>
            </a:pPr>
            <a:r>
              <a:t>5 APIs working together — 3 free, 2 paid (&lt; $0.01 per query)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50800"/>
          </a:xfrm>
          <a:prstGeom prst="rect">
            <a:avLst/>
          </a:prstGeom>
          <a:solidFill>
            <a:srgbClr val="004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06D"/>
                </a:solidFill>
                <a:latin typeface="Manrope"/>
              </a:defRPr>
            </a:pPr>
            <a:r>
              <a:t>ENGINE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06D"/>
                </a:solidFill>
                <a:latin typeface="Manrope"/>
              </a:defRPr>
            </a:pPr>
            <a:r>
              <a:t>PRIMARY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417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06D"/>
                </a:solidFill>
                <a:latin typeface="Manrope"/>
              </a:defRPr>
            </a:pPr>
            <a:r>
              <a:t>RESPONSE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1417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06D"/>
                </a:solidFill>
                <a:latin typeface="Manrope"/>
              </a:defRPr>
            </a:pPr>
            <a: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627632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700784"/>
            <a:ext cx="10698480" cy="347472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7190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1C1D"/>
                </a:solidFill>
                <a:latin typeface="Inter"/>
              </a:defRPr>
            </a:pPr>
            <a:r>
              <a:t>Claude Haiku (Anthropic)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7190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484B"/>
                </a:solidFill>
                <a:latin typeface="Inter"/>
              </a:defRPr>
            </a:pPr>
            <a:r>
              <a:t>Entity Resolution &amp; Explanations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7190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577"/>
                </a:solidFill>
                <a:latin typeface="Inter"/>
              </a:defRPr>
            </a:pPr>
            <a:r>
              <a:t>Structured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7190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06D"/>
                </a:solidFill>
                <a:latin typeface="Inter"/>
              </a:defRPr>
            </a:pPr>
            <a:r>
              <a:t>~$0.001/Q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084831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1C1D"/>
                </a:solidFill>
                <a:latin typeface="Inter"/>
              </a:defRPr>
            </a:pPr>
            <a:r>
              <a:t>Perplexity Sonar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084831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484B"/>
                </a:solidFill>
                <a:latin typeface="Inter"/>
              </a:defRPr>
            </a:pPr>
            <a:r>
              <a:t>Evidence Search &amp; Follow-up Q&amp;A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08483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577"/>
                </a:solidFill>
                <a:latin typeface="Inter"/>
              </a:defRPr>
            </a:pPr>
            <a:r>
              <a:t>Structured 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084831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06D"/>
                </a:solidFill>
                <a:latin typeface="Inter"/>
              </a:defRPr>
            </a:pPr>
            <a:r>
              <a:t>~$0.005/Q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432303"/>
            <a:ext cx="10698480" cy="347472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450591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1C1D"/>
                </a:solidFill>
                <a:latin typeface="Inter"/>
              </a:defRPr>
            </a:pPr>
            <a:r>
              <a:t>PubMed E-utilities (NCBI)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450591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484B"/>
                </a:solidFill>
                <a:latin typeface="Inter"/>
              </a:defRPr>
            </a:pPr>
            <a:r>
              <a:t>Drug-Disease Co-occurrence 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45059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577"/>
                </a:solidFill>
                <a:latin typeface="Inter"/>
              </a:defRPr>
            </a:pPr>
            <a:r>
              <a:t>XML/JSON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450591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Inter"/>
              </a:defRPr>
            </a:pPr>
            <a:r>
              <a:t>FREE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81635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1C1D"/>
                </a:solidFill>
                <a:latin typeface="Inter"/>
              </a:defRPr>
            </a:pPr>
            <a:r>
              <a:t>OpenFDA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8163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484B"/>
                </a:solidFill>
                <a:latin typeface="Inter"/>
              </a:defRPr>
            </a:pPr>
            <a:r>
              <a:t>Drug Approval Status Lookup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8163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577"/>
                </a:solidFill>
                <a:latin typeface="Inter"/>
              </a:defRPr>
            </a:pPr>
            <a:r>
              <a:t>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8163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Inter"/>
              </a:defRPr>
            </a:pPr>
            <a:r>
              <a:t>FREE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163824"/>
            <a:ext cx="10698480" cy="347472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1821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1C1D"/>
                </a:solidFill>
                <a:latin typeface="Inter"/>
              </a:defRPr>
            </a:pPr>
            <a:r>
              <a:t>ClinicalTrials.gov v2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18211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484B"/>
                </a:solidFill>
                <a:latin typeface="Inter"/>
              </a:defRPr>
            </a:pPr>
            <a:r>
              <a:t>Active &amp; Completed Trial Finder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1821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577"/>
                </a:solidFill>
                <a:latin typeface="Inter"/>
              </a:defRPr>
            </a:pPr>
            <a:r>
              <a:t>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18211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Inter"/>
              </a:defRPr>
            </a:pPr>
            <a:r>
              <a:t>FREE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611880"/>
            <a:ext cx="10698480" cy="457200"/>
          </a:xfrm>
          <a:prstGeom prst="roundRect">
            <a:avLst/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300" b="1">
                <a:solidFill>
                  <a:srgbClr val="004751"/>
                </a:solidFill>
                <a:latin typeface="Manrope"/>
              </a:defRPr>
            </a:pPr>
            <a:r>
              <a:t>All enrichment runs in parallel using Python asyncio — minimal added latency to the pipeline.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251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1C1D"/>
                </a:solidFill>
                <a:latin typeface="Manrope"/>
              </a:defRPr>
            </a:pPr>
            <a:r>
              <a:t>Perplexity Sonar: Structured Evidence Extraction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617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06D"/>
                </a:solidFill>
                <a:latin typeface="Manrope"/>
              </a:defRPr>
            </a:pPr>
            <a:r>
              <a:t>verdict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46177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F484B"/>
                </a:solidFill>
                <a:latin typeface="Inter"/>
              </a:defRPr>
            </a:pPr>
            <a:r>
              <a:t>SUPPORTS | STANDARD-OF-CARE | CONFLICTS | INSUFFICIENT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8737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06D"/>
                </a:solidFill>
                <a:latin typeface="Manrope"/>
              </a:defRPr>
            </a:pPr>
            <a:r>
              <a:t>tldr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8737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F484B"/>
                </a:solidFill>
                <a:latin typeface="Inter"/>
              </a:defRPr>
            </a:pPr>
            <a:r>
              <a:t>One-sentence evidence summary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129783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06D"/>
                </a:solidFill>
                <a:latin typeface="Manrope"/>
              </a:defRPr>
            </a:pPr>
            <a:r>
              <a:t>evidence_quality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512978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F484B"/>
                </a:solidFill>
                <a:latin typeface="Inter"/>
              </a:defRPr>
            </a:pPr>
            <a:r>
              <a:t>RCT | Human Study | Preclinical | Case Report | Theoretical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38581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06D"/>
                </a:solidFill>
                <a:latin typeface="Manrope"/>
              </a:defRPr>
            </a:pPr>
            <a:r>
              <a:t>pathway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538581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F484B"/>
                </a:solidFill>
                <a:latin typeface="Inter"/>
              </a:defRPr>
            </a:pPr>
            <a:r>
              <a:t>Drug -&gt; molecular target -&gt; mechanism -&gt; disease effect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6418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06D"/>
                </a:solidFill>
                <a:latin typeface="Manrope"/>
              </a:defRPr>
            </a:pPr>
            <a:r>
              <a:t>has_interactions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564184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F484B"/>
                </a:solidFill>
                <a:latin typeface="Inter"/>
              </a:defRPr>
            </a:pPr>
            <a:r>
              <a:t>Y/N flag for dangerous drug-drug interactions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897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06D"/>
                </a:solidFill>
                <a:latin typeface="Manrope"/>
              </a:defRPr>
            </a:pPr>
            <a:r>
              <a:t>citations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58978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F484B"/>
                </a:solidFill>
                <a:latin typeface="Inter"/>
              </a:defRPr>
            </a:pPr>
            <a:r>
              <a:t>Filtered to credible sources (PubMed, WHO, FDA, NIH)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577"/>
                </a:solidFill>
                <a:latin typeface="Inter"/>
              </a:defRPr>
            </a:pPr>
            <a:r>
              <a:t>BIOLINK | AAI 595 APPLIED MACHINE LEARNING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6510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577"/>
                </a:solidFill>
                <a:latin typeface="Inter"/>
              </a:defRPr>
            </a:pPr>
            <a:r>
              <a:t>SLIDE 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00606D"/>
                </a:solidFill>
                <a:latin typeface="Manrope"/>
              </a:rP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4751"/>
                </a:solidFill>
                <a:latin typeface="Manrope"/>
              </a:defRPr>
            </a:pPr>
            <a:r>
              <a:t>When AI Disagrees with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F484B"/>
                </a:solidFill>
                <a:latin typeface="Inter"/>
              </a:defRPr>
            </a:pPr>
            <a:r>
              <a:t>The most valuable feature is showing users when the model is wrong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BA1A1A"/>
                </a:solidFill>
                <a:latin typeface="Manrope"/>
              </a:defRPr>
            </a:pPr>
            <a:r>
              <a:t>CYCLOSPORINE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Model: 99% Strong for Lyme Disease</a:t>
            </a:r>
            <a:br/>
            <a:r>
              <a:t>Evidence: CONFLICTS</a:t>
            </a:r>
            <a:br/>
            <a:br/>
            <a:r>
              <a:t>Cyclosporine is an immunosuppressant.</a:t>
            </a:r>
            <a:br/>
            <a:r>
              <a:t>Suppressing immunity during a bacterial</a:t>
            </a:r>
            <a:br/>
            <a:r>
              <a:t>infection would be harmful. The model</a:t>
            </a:r>
            <a:br/>
            <a:r>
              <a:t>detects a real relationship but can't</a:t>
            </a:r>
            <a:br/>
            <a:r>
              <a:t>distinguish 'interacts' from 'treats'.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1732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BA1A1A"/>
                </a:solidFill>
                <a:latin typeface="Manrope"/>
              </a:rPr>
              <a:t>CONFLICTS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02920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65F46"/>
                </a:solidFill>
                <a:latin typeface="Manrope"/>
              </a:defRPr>
            </a:pPr>
            <a:r>
              <a:t>DOXYCYCLINE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Model: 99% Strong for Lyme Disease</a:t>
            </a:r>
            <a:br/>
            <a:r>
              <a:t>Evidence: STANDARD-OF-CARE</a:t>
            </a:r>
            <a:br/>
            <a:br/>
            <a:r>
              <a:t>Already the first-line antibiotic treatment.</a:t>
            </a:r>
            <a:br/>
            <a:r>
              <a:t>Multiple RCTs and CDC guidelines confirm.</a:t>
            </a:r>
            <a:br/>
            <a:br/>
            <a:r>
              <a:t>Model and evidence align perfectly —</a:t>
            </a:r>
            <a:br/>
            <a:r>
              <a:t>this is the actionable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1417320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065F46"/>
                </a:solidFill>
                <a:latin typeface="Manrope"/>
              </a:rPr>
              <a:t>STANDARD-OF-CARE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10698480" cy="457200"/>
          </a:xfrm>
          <a:prstGeom prst="roundRect">
            <a:avLst/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300" b="1">
                <a:solidFill>
                  <a:srgbClr val="004751"/>
                </a:solidFill>
                <a:latin typeface="Manrope"/>
              </a:defRPr>
            </a:pPr>
            <a:r>
              <a:t>Key Insight: The gap between model confidence and real-world evidence IS the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02920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200" b="1">
                <a:solidFill>
                  <a:srgbClr val="00606D"/>
                </a:solidFill>
                <a:latin typeface="Manrope"/>
              </a:defRPr>
            </a:pPr>
            <a:r>
              <a:t>WHAT MAKES THIS NOVEL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No other drug repurposing tool shows both ML</a:t>
            </a:r>
            <a:br/>
            <a:r>
              <a:t>predictions and evidence verdicts. Users see where</a:t>
            </a:r>
            <a:br/>
            <a:r>
              <a:t>to trust the model and where to be skeptical.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389120"/>
            <a:ext cx="502920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200" b="1">
                <a:solidFill>
                  <a:srgbClr val="065F46"/>
                </a:solidFill>
                <a:latin typeface="Manrope"/>
              </a:defRPr>
            </a:pPr>
            <a:r>
              <a:t>CLINICAL IMPACT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Evidence verdicts, pathway chains, drug interaction</a:t>
            </a:r>
            <a:br/>
            <a:r>
              <a:t>warnings, and evidence quality ratings give users</a:t>
            </a:r>
            <a:br/>
            <a:r>
              <a:t>multiple signals beyond raw model confidence.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577"/>
                </a:solidFill>
                <a:latin typeface="Inter"/>
              </a:defRPr>
            </a:pPr>
            <a:r>
              <a:t>BIOLINK | AAI 595 APPLIED 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6510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577"/>
                </a:solidFill>
                <a:latin typeface="Inter"/>
              </a:defRPr>
            </a:pPr>
            <a:r>
              <a:t>SLIDE 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00606D"/>
                </a:solidFill>
                <a:latin typeface="Manrope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751"/>
                </a:solidFill>
                <a:latin typeface="Manrope"/>
              </a:defRPr>
            </a:pPr>
            <a:r>
              <a:t>Feature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F484B"/>
                </a:solidFill>
                <a:latin typeface="Inter"/>
              </a:defRPr>
            </a:pPr>
            <a:r>
              <a:t>Every feature designed around one question: "Can a patient actually use this?"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26974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065F46"/>
                </a:solidFill>
                <a:latin typeface="Manrope"/>
              </a:defRPr>
            </a:pPr>
            <a:r>
              <a:t>Evidence Verdicts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Color-coded badges showing if</a:t>
            </a:r>
            <a:br/>
            <a:r>
              <a:t>literature supports or conflicts</a:t>
            </a:r>
            <a:br/>
            <a:r>
              <a:t>with ML predictions.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325880"/>
            <a:ext cx="26974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00606D"/>
                </a:solidFill>
                <a:latin typeface="Manrope"/>
              </a:defRPr>
            </a:pPr>
            <a:r>
              <a:t>Evidence Quality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Classifies strength: RCT &gt;</a:t>
            </a:r>
            <a:br/>
            <a:r>
              <a:t>Human Study &gt; Preclinical &gt;</a:t>
            </a:r>
            <a:br/>
            <a:r>
              <a:t>Case Report &gt; Theoretical.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26974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00606D"/>
                </a:solidFill>
                <a:latin typeface="Manrope"/>
              </a:defRPr>
            </a:pPr>
            <a:r>
              <a:t>Clinical Trials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Live ClinicalTrials.gov lookup</a:t>
            </a:r>
            <a:br/>
            <a:r>
              <a:t>with trial counts and direct</a:t>
            </a:r>
            <a:br/>
            <a:r>
              <a:t>enrollment links.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325880"/>
            <a:ext cx="26974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267987"/>
                </a:solidFill>
                <a:latin typeface="Manrope"/>
              </a:defRPr>
            </a:pPr>
            <a:r>
              <a:t>Pathway Chains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Visualizes mechanism:</a:t>
            </a:r>
            <a:br/>
            <a:r>
              <a:t>Drug &gt; Target &gt; Pathway</a:t>
            </a:r>
            <a:br/>
            <a:r>
              <a:t>&gt; Disease Effect.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26974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92400E"/>
                </a:solidFill>
                <a:latin typeface="Manrope"/>
              </a:defRPr>
            </a:pPr>
            <a:r>
              <a:t>Compare Mode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Select multiple candidates</a:t>
            </a:r>
            <a:br/>
            <a:r>
              <a:t>for side-by-side metric</a:t>
            </a:r>
            <a:br/>
            <a:r>
              <a:t>comparison 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657600"/>
            <a:ext cx="26974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00606D"/>
                </a:solidFill>
                <a:latin typeface="Manrope"/>
              </a:defRPr>
            </a:pPr>
            <a:r>
              <a:t>Follow-up Q&amp;A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Ask questions about any</a:t>
            </a:r>
            <a:br/>
            <a:r>
              <a:t>result, grounded in published</a:t>
            </a:r>
            <a:br/>
            <a:r>
              <a:t>evidence via Perplexity.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26974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BA1A1A"/>
                </a:solidFill>
                <a:latin typeface="Manrope"/>
              </a:defRPr>
            </a:pPr>
            <a:r>
              <a:t>Drug Interactions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Warns when a candidate</a:t>
            </a:r>
            <a:br/>
            <a:r>
              <a:t>interacts dangerously with</a:t>
            </a:r>
            <a:br/>
            <a:r>
              <a:t>standard treatments.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3657600"/>
            <a:ext cx="26974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3F484B"/>
                </a:solidFill>
                <a:latin typeface="Manrope"/>
              </a:defRPr>
            </a:pPr>
            <a:r>
              <a:t>PDF/CSV Export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Reports for doctors.</a:t>
            </a:r>
            <a:br/>
            <a:r>
              <a:t>Batch mode for bulk</a:t>
            </a:r>
            <a:br/>
            <a:r>
              <a:t>predictions via CSV.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577"/>
                </a:solidFill>
                <a:latin typeface="Inter"/>
              </a:defRPr>
            </a:pPr>
            <a:r>
              <a:t>BIOLINK | AAI 595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6510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577"/>
                </a:solidFill>
                <a:latin typeface="Inter"/>
              </a:defRPr>
            </a:pPr>
            <a:r>
              <a:t>SLIDE 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00606D"/>
                </a:solidFill>
                <a:latin typeface="Manrope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751"/>
                </a:solidFill>
                <a:latin typeface="Manrope"/>
              </a:defRPr>
            </a:pPr>
            <a:r>
              <a:t>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F484B"/>
                </a:solidFill>
                <a:latin typeface="Inter"/>
              </a:defRPr>
            </a:pPr>
            <a:r>
              <a:t>Clinical-grade design: professional, trustworthy, accessible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457200"/>
          </a:xfrm>
          <a:prstGeom prst="roundRect">
            <a:avLst/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300" b="1">
                <a:solidFill>
                  <a:srgbClr val="004751"/>
                </a:solidFill>
                <a:latin typeface="Manrope"/>
              </a:defRPr>
            </a:pPr>
            <a:r>
              <a:t>The interface must earn trust instantly — patients need confidence in the tool's credibility.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1C1D"/>
                </a:solidFill>
                <a:latin typeface="Manrope"/>
              </a:defRPr>
            </a:pPr>
            <a:r>
              <a:t>Core Design Principles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52120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0606D"/>
                </a:solidFill>
                <a:latin typeface="Manrope"/>
              </a:defRPr>
            </a:pPr>
            <a:r>
              <a:t>Clinical Minimalism</a:t>
            </a:r>
          </a:p>
          <a:p>
            <a:pPr>
              <a:defRPr sz="1100">
                <a:solidFill>
                  <a:srgbClr val="3F484B"/>
                </a:solidFill>
                <a:latin typeface="Inter"/>
              </a:defRPr>
            </a:pPr>
            <a:r>
              <a:t>Manrope headlines + Inter body. Teal primary (#00606d).</a:t>
            </a:r>
            <a:br/>
            <a:r>
              <a:t>No-line rule: tonal layering instead of visible dividers.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52120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0606D"/>
                </a:solidFill>
                <a:latin typeface="Manrope"/>
              </a:defRPr>
            </a:pPr>
            <a:r>
              <a:t>Information Hierarchy</a:t>
            </a:r>
          </a:p>
          <a:p>
            <a:pPr>
              <a:defRPr sz="1100">
                <a:solidFill>
                  <a:srgbClr val="3F484B"/>
                </a:solidFill>
                <a:latin typeface="Inter"/>
              </a:defRPr>
            </a:pPr>
            <a:r>
              <a:t>Drug name + confidence badge on top. FDA status below.</a:t>
            </a:r>
            <a:br/>
            <a:r>
              <a:t>Plain-English explanation on expand. Progressive disclosure.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120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0606D"/>
                </a:solidFill>
                <a:latin typeface="Manrope"/>
              </a:defRPr>
            </a:pPr>
            <a:r>
              <a:t>Trust Signals</a:t>
            </a:r>
          </a:p>
          <a:p>
            <a:pPr>
              <a:defRPr sz="1100">
                <a:solidFill>
                  <a:srgbClr val="3F484B"/>
                </a:solidFill>
                <a:latin typeface="Inter"/>
              </a:defRPr>
            </a:pPr>
            <a:r>
              <a:t>Medical disclaimers top + bottom. Color-coded tiers.</a:t>
            </a:r>
            <a:br/>
            <a:r>
              <a:t>Evidence quality badges. Cited sources (PubMed, NIH, WHO).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1C1D"/>
                </a:solidFill>
                <a:latin typeface="Manrope"/>
              </a:defRPr>
            </a:pPr>
            <a:r>
              <a:t>Target Audiences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286000"/>
            <a:ext cx="50292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65F46"/>
                </a:solidFill>
                <a:latin typeface="Manrope"/>
              </a:defRPr>
            </a:pPr>
            <a:r>
              <a:t>Patients</a:t>
            </a:r>
          </a:p>
          <a:p>
            <a:pPr>
              <a:defRPr sz="1100">
                <a:solidFill>
                  <a:srgbClr val="3F484B"/>
                </a:solidFill>
                <a:latin typeface="Inter"/>
              </a:defRPr>
            </a:pPr>
            <a:r>
              <a:t>Simple search, plain-English explanations,</a:t>
            </a:r>
            <a:br/>
            <a:r>
              <a:t>PDF reports for their doctor, follow-up Q&amp;A.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246120"/>
            <a:ext cx="50292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0606D"/>
                </a:solidFill>
                <a:latin typeface="Manrope"/>
              </a:defRPr>
            </a:pPr>
            <a:r>
              <a:t>Researchers</a:t>
            </a:r>
          </a:p>
          <a:p>
            <a:pPr>
              <a:defRPr sz="1100">
                <a:solidFill>
                  <a:srgbClr val="3F484B"/>
                </a:solidFill>
                <a:latin typeface="Inter"/>
              </a:defRPr>
            </a:pPr>
            <a:r>
              <a:t>Batch mode (CSV upload), PubMed co-occurrence,</a:t>
            </a:r>
            <a:br/>
            <a:r>
              <a:t>clinical trial links, CSV export for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206240"/>
            <a:ext cx="50292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92400E"/>
                </a:solidFill>
                <a:latin typeface="Manrope"/>
              </a:defRPr>
            </a:pPr>
            <a:r>
              <a:t>Clinicians</a:t>
            </a:r>
          </a:p>
          <a:p>
            <a:pPr>
              <a:defRPr sz="1100">
                <a:solidFill>
                  <a:srgbClr val="3F484B"/>
                </a:solidFill>
                <a:latin typeface="Inter"/>
              </a:defRPr>
            </a:pPr>
            <a:r>
              <a:t>Compare mode (side-by-side), drug interaction</a:t>
            </a:r>
            <a:br/>
            <a:r>
              <a:t>warnings, evidence quality, pathway visualization.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577"/>
                </a:solidFill>
                <a:latin typeface="Inter"/>
              </a:defRPr>
            </a:pPr>
            <a:r>
              <a:t>BIOLINK | AAI 595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510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577"/>
                </a:solidFill>
                <a:latin typeface="Inter"/>
              </a:defRPr>
            </a:pPr>
            <a:r>
              <a:t>SLIDE 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00606D"/>
                </a:solidFill>
                <a:latin typeface="Manrope"/>
              </a:rP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751"/>
                </a:solidFill>
                <a:latin typeface="Manrope"/>
              </a:defRPr>
            </a:pPr>
            <a:r>
              <a:t>Challenges &amp; How AI Helped Solve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F484B"/>
                </a:solidFill>
                <a:latin typeface="Inter"/>
              </a:defRPr>
            </a:pPr>
            <a:r>
              <a:t>Key technical obstacles and the solutions that resolved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06D"/>
                </a:solidFill>
                <a:latin typeface="Manrope"/>
              </a:defRPr>
            </a:pPr>
            <a:r>
              <a:t>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2801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06D"/>
                </a:solidFill>
                <a:latin typeface="Manrope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2801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06D"/>
                </a:solidFill>
                <a:latin typeface="Manrope"/>
              </a:defRPr>
            </a:pPr>
            <a:r>
              <a:t>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18488"/>
            <a:ext cx="10698480" cy="96012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06D"/>
                </a:solidFill>
                <a:latin typeface="Manrope"/>
              </a:defRPr>
            </a:pPr>
            <a:r>
              <a:t>Model vs. Evidence</a:t>
            </a:r>
            <a:br/>
            <a:r>
              <a:t>Mismatch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64592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484B"/>
                </a:solidFill>
                <a:latin typeface="Inter"/>
              </a:defRPr>
            </a:pPr>
            <a:r>
              <a:t>MLP gives high confidence to drugs</a:t>
            </a:r>
            <a:br/>
            <a:r>
              <a:t>that evidence shows are harmful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64592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1C1D"/>
                </a:solidFill>
                <a:latin typeface="Inter"/>
              </a:defRPr>
            </a:pPr>
            <a:r>
              <a:t>Perplexity evidence search with</a:t>
            </a:r>
            <a:br/>
            <a:r>
              <a:t>verdict badges (agree/disagree)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06D"/>
                </a:solidFill>
                <a:latin typeface="Manrope"/>
              </a:defRPr>
            </a:pPr>
            <a:r>
              <a:t>API Cost at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9748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484B"/>
                </a:solidFill>
                <a:latin typeface="Inter"/>
              </a:defRPr>
            </a:pPr>
            <a:r>
              <a:t>Perplexity ~$0.01/call; 20 results</a:t>
            </a:r>
            <a:br/>
            <a:r>
              <a:t>= $0.20/query, cost-prohibitive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69748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1C1D"/>
                </a:solidFill>
                <a:latin typeface="Inter"/>
              </a:defRPr>
            </a:pPr>
            <a:r>
              <a:t>Evidence for top 5; free APIs</a:t>
            </a:r>
            <a:br/>
            <a:r>
              <a:t>(PubMed, FDA, Trials) for all 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21607"/>
            <a:ext cx="10698480" cy="96012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49039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06D"/>
                </a:solidFill>
                <a:latin typeface="Manrope"/>
              </a:defRPr>
            </a:pPr>
            <a:r>
              <a:t>Free-Text Entity</a:t>
            </a:r>
            <a:br/>
            <a:r>
              <a:t>Resolution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749039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484B"/>
                </a:solidFill>
                <a:latin typeface="Inter"/>
              </a:defRPr>
            </a:pPr>
            <a:r>
              <a:t>Users type 'heart attack', model</a:t>
            </a:r>
            <a:br/>
            <a:r>
              <a:t>needs 'Myocardial Infarction'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749039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1C1D"/>
                </a:solidFill>
                <a:latin typeface="Inter"/>
              </a:defRPr>
            </a:pPr>
            <a:r>
              <a:t>Claude Haiku NL mapping +</a:t>
            </a:r>
            <a:br/>
            <a:r>
              <a:t>difflib fuzzy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0060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06D"/>
                </a:solidFill>
                <a:latin typeface="Manrope"/>
              </a:defRPr>
            </a:pPr>
            <a:r>
              <a:t>13 GB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80060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484B"/>
                </a:solidFill>
                <a:latin typeface="Inter"/>
              </a:defRPr>
            </a:pPr>
            <a:r>
              <a:t>BioWordVec binary too large</a:t>
            </a:r>
            <a:br/>
            <a:r>
              <a:t>for HF Spaces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80060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1C1D"/>
                </a:solidFill>
                <a:latin typeface="Inter"/>
              </a:defRPr>
            </a:pPr>
            <a:r>
              <a:t>Pre-cached .npy embeddings</a:t>
            </a:r>
            <a:br/>
            <a:r>
              <a:t>(7.7 MB total)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669280"/>
            <a:ext cx="3200400" cy="548640"/>
          </a:xfrm>
          <a:prstGeom prst="roundRect">
            <a:avLst/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2600" b="1">
                <a:solidFill>
                  <a:srgbClr val="00606D"/>
                </a:solidFill>
                <a:latin typeface="Manrope"/>
              </a:defRPr>
            </a:pPr>
            <a:r>
              <a:t>0.947</a:t>
            </a:r>
          </a:p>
          <a:p>
            <a:pPr>
              <a:defRPr sz="1000">
                <a:solidFill>
                  <a:srgbClr val="3F484B"/>
                </a:solidFill>
                <a:latin typeface="Inter"/>
              </a:defRPr>
            </a:pPr>
            <a:r>
              <a:t>TEST AUC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5669280"/>
            <a:ext cx="3200400" cy="548640"/>
          </a:xfrm>
          <a:prstGeom prst="roundRect">
            <a:avLst/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2600" b="1">
                <a:solidFill>
                  <a:srgbClr val="00606D"/>
                </a:solidFill>
                <a:latin typeface="Manrope"/>
              </a:defRPr>
            </a:pPr>
            <a:r>
              <a:t>~100ms</a:t>
            </a:r>
          </a:p>
          <a:p>
            <a:pPr>
              <a:defRPr sz="1000">
                <a:solidFill>
                  <a:srgbClr val="3F484B"/>
                </a:solidFill>
                <a:latin typeface="Inter"/>
              </a:defRPr>
            </a:pPr>
            <a:r>
              <a:t>INFERENCE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5669280"/>
            <a:ext cx="3566160" cy="548640"/>
          </a:xfrm>
          <a:prstGeom prst="roundRect">
            <a:avLst/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2600" b="1">
                <a:solidFill>
                  <a:srgbClr val="00606D"/>
                </a:solidFill>
                <a:latin typeface="Manrope"/>
              </a:defRPr>
            </a:pPr>
            <a:r>
              <a:t>7.7 MB</a:t>
            </a:r>
          </a:p>
          <a:p>
            <a:pPr>
              <a:defRPr sz="1000">
                <a:solidFill>
                  <a:srgbClr val="3F484B"/>
                </a:solidFill>
                <a:latin typeface="Inter"/>
              </a:defRPr>
            </a:pPr>
            <a:r>
              <a:t>DEPLOYMENT SIZE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577"/>
                </a:solidFill>
                <a:latin typeface="Inter"/>
              </a:defRPr>
            </a:pPr>
            <a:r>
              <a:t>BIOLINK | AAI 595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6510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577"/>
                </a:solidFill>
                <a:latin typeface="Inter"/>
              </a:defRPr>
            </a:pPr>
            <a:r>
              <a:t>SLIDE 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00606D"/>
                </a:solidFill>
                <a:latin typeface="Manrope"/>
              </a:rPr>
              <a:t>AI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4751"/>
                </a:solidFill>
                <a:latin typeface="Manrope"/>
              </a:defRPr>
            </a:pPr>
            <a:r>
              <a:t>AI Tools: Development &amp;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F484B"/>
                </a:solidFill>
                <a:latin typeface="Inter"/>
              </a:defRPr>
            </a:pPr>
            <a:r>
              <a:t>AI was both the product AND the primary development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300" b="1">
                <a:solidFill>
                  <a:srgbClr val="00606D"/>
                </a:solidFill>
                <a:latin typeface="Manrope"/>
              </a:defRPr>
            </a:pPr>
            <a:r>
              <a:t>DEVELOPMENT TOOLS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Claude Code (Anthropic)</a:t>
            </a:r>
            <a:br/>
            <a:r>
              <a:t>Primary tool for architecture design, code generation,</a:t>
            </a:r>
            <a:br/>
            <a:r>
              <a:t>debugging, all major features, documentation.</a:t>
            </a:r>
            <a:br/>
            <a:br/>
            <a:r>
              <a:t>GitHub Copilot</a:t>
            </a:r>
            <a:br/>
            <a:r>
              <a:t>Code completion during early development.</a:t>
            </a:r>
            <a:br/>
            <a:br/>
            <a:r>
              <a:t>Result: 10-module, 2,000+ line app with</a:t>
            </a:r>
            <a:br/>
            <a:r>
              <a:t>5 API integrations built in one semester.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300" b="1">
                <a:solidFill>
                  <a:srgbClr val="065F46"/>
                </a:solidFill>
                <a:latin typeface="Manrope"/>
              </a:defRPr>
            </a:pPr>
            <a:r>
              <a:t>RUNTIME AI COMPONENTS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Claude Haiku (Anthropic)</a:t>
            </a:r>
            <a:br/>
            <a:r>
              <a:t>Entity resolution: NL to CTD medical terms.</a:t>
            </a:r>
            <a:br/>
            <a:r>
              <a:t>Plain-English explanation generation.</a:t>
            </a:r>
            <a:br/>
            <a:r>
              <a:t>Cost: ~$0.001 per query.</a:t>
            </a:r>
            <a:br/>
            <a:br/>
            <a:r>
              <a:t>Perplexity Sonar</a:t>
            </a:r>
            <a:br/>
            <a:r>
              <a:t>Live evidence search with structured output:</a:t>
            </a:r>
            <a:br/>
            <a:r>
              <a:t>verdict, quality, pathway, interactions, citations.</a:t>
            </a:r>
            <a:br/>
            <a:r>
              <a:t>Cost: ~$0.005 per query.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10698480" cy="457200"/>
          </a:xfrm>
          <a:prstGeom prst="roundRect">
            <a:avLst/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300" b="1">
                <a:solidFill>
                  <a:srgbClr val="004751"/>
                </a:solidFill>
                <a:latin typeface="Manrope"/>
              </a:defRPr>
            </a:pPr>
            <a:r>
              <a:t>AI tools accelerated development from concept to deployed application in one semester.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43484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4663440"/>
            <a:ext cx="292608" cy="292608"/>
          </a:xfrm>
          <a:prstGeom prst="ellipse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4751"/>
                </a:solidFill>
                <a:latin typeface="Manrope"/>
              </a:defRPr>
            </a:pPr>
            <a:r>
              <a:t>Claude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92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F484B"/>
                </a:solidFill>
                <a:latin typeface="Inter"/>
              </a:defRPr>
            </a:pPr>
            <a:r>
              <a:t>Architecture, code generation,</a:t>
            </a:r>
            <a:br/>
            <a:r>
              <a:t>debugging, documentation.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4663440"/>
            <a:ext cx="292608" cy="292608"/>
          </a:xfrm>
          <a:prstGeom prst="ellipse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6634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4751"/>
                </a:solidFill>
                <a:latin typeface="Manrope"/>
              </a:defRPr>
            </a:pPr>
            <a:r>
              <a:t>Claude Haiku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892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F484B"/>
                </a:solidFill>
                <a:latin typeface="Inter"/>
              </a:defRPr>
            </a:pPr>
            <a:r>
              <a:t>Runtime entity resolution.</a:t>
            </a:r>
            <a:br/>
            <a:r>
              <a:t>~$0.001 per query.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0" y="4663440"/>
            <a:ext cx="292608" cy="292608"/>
          </a:xfrm>
          <a:prstGeom prst="ellipse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6634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4751"/>
                </a:solidFill>
                <a:latin typeface="Manrope"/>
              </a:defRPr>
            </a:pPr>
            <a:r>
              <a:t>Perplexity Sonar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892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F484B"/>
                </a:solidFill>
                <a:latin typeface="Inter"/>
              </a:defRPr>
            </a:pPr>
            <a:r>
              <a:t>Live evidence search + Q&amp;A.</a:t>
            </a:r>
            <a:br/>
            <a:r>
              <a:t>~$0.005 per query.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577"/>
                </a:solidFill>
                <a:latin typeface="Inter"/>
              </a:defRPr>
            </a:pPr>
            <a:r>
              <a:t>BIOLINK | AAI 595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510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577"/>
                </a:solidFill>
                <a:latin typeface="Inter"/>
              </a:defRPr>
            </a:pPr>
            <a:r>
              <a:t>SLIDE 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00606D"/>
                </a:solidFill>
                <a:latin typeface="Manrope"/>
              </a:rPr>
              <a:t>SOCIETAL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4751"/>
                </a:solidFill>
                <a:latin typeface="Manrope"/>
              </a:defRPr>
            </a:pPr>
            <a:r>
              <a:t>Societal Impact of BioLink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F484B"/>
                </a:solidFill>
                <a:latin typeface="Inter"/>
              </a:defRPr>
            </a:pPr>
            <a:r>
              <a:t>Drug repurposing as a force multiplier for health equity and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457200"/>
          </a:xfrm>
          <a:prstGeom prst="roundRect">
            <a:avLst/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300" b="1">
                <a:solidFill>
                  <a:srgbClr val="004751"/>
                </a:solidFill>
                <a:latin typeface="Manrope"/>
              </a:defRPr>
            </a:pPr>
            <a:r>
              <a:t>95% of rare diseases have no FDA-approved treatment. Drug repurposing is often the only viable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2120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0606D"/>
                </a:solidFill>
                <a:latin typeface="Manrope"/>
              </a:defRPr>
            </a:pPr>
            <a:r>
              <a:t>Rare Diseases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7,000+ rare diseases affect 300M people worldwide.</a:t>
            </a:r>
            <a:br/>
            <a:r>
              <a:t>Repurposing is often the only economically viable</a:t>
            </a:r>
            <a:br/>
            <a:r>
              <a:t>path — novel drugs aren't profitable for small populations.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2120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65F46"/>
                </a:solidFill>
                <a:latin typeface="Manrope"/>
              </a:defRPr>
            </a:pPr>
            <a:r>
              <a:t>Global Health Equity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Repurposed generics are dramatically cheaper than</a:t>
            </a:r>
            <a:br/>
            <a:r>
              <a:t>novel drugs. BioLink makes the discovery process</a:t>
            </a:r>
            <a:br/>
            <a:r>
              <a:t>free and accessible to researchers worldwide.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2120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0606D"/>
                </a:solidFill>
                <a:latin typeface="Manrope"/>
              </a:defRPr>
            </a:pPr>
            <a:r>
              <a:t>Pandemic Preparedness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During COVID-19, repurposing screens identified</a:t>
            </a:r>
            <a:br/>
            <a:r>
              <a:t>dexamethasone within months — not the 10-15 years</a:t>
            </a:r>
            <a:br/>
            <a:r>
              <a:t>required for novel drugs.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474720"/>
            <a:ext cx="52120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065F46"/>
                </a:solidFill>
                <a:latin typeface="Manrope"/>
              </a:defRPr>
            </a:pPr>
            <a:r>
              <a:t>Patient Empowerment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Patients with unmet medical needs can explore</a:t>
            </a:r>
            <a:br/>
            <a:r>
              <a:t>candidates and bring evidence-backed PDF reports</a:t>
            </a:r>
            <a:br/>
            <a:r>
              <a:t>to their physicians.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400" b="1">
                <a:solidFill>
                  <a:srgbClr val="92400E"/>
                </a:solidFill>
                <a:latin typeface="Manrope"/>
              </a:defRPr>
            </a:pPr>
            <a:r>
              <a:t>Responsible AI Design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BioLink does not replace clinical judgment. Every screen includes disclaimers. Evidence verdicts</a:t>
            </a:r>
            <a:br/>
            <a:r>
              <a:t>show when the AI is wrong. The tool is a hypothesis generator, not a treatment decision-maker.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577"/>
                </a:solidFill>
                <a:latin typeface="Inter"/>
              </a:defRPr>
            </a:pPr>
            <a:r>
              <a:t>BIOLINK | AAI 595 APPLIED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510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577"/>
                </a:solidFill>
                <a:latin typeface="Inter"/>
              </a:defRPr>
            </a:pPr>
            <a:r>
              <a:t>SLIDE 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645920"/>
          </a:xfrm>
          <a:prstGeom prst="rect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0" y="228600"/>
            <a:ext cx="57607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3200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606D"/>
                </a:solidFill>
                <a:latin typeface="Manrope"/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8686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F484B"/>
                </a:solidFill>
                <a:latin typeface="Inter"/>
              </a:defRPr>
            </a:pPr>
            <a:r>
              <a:t>huggingface.co/spaces/dustinhaggett/biolink-v2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00606D"/>
                </a:solidFill>
                <a:latin typeface="Manrope"/>
              </a:rPr>
              <a:t>DEMO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4751"/>
                </a:solidFill>
                <a:latin typeface="Manrope"/>
              </a:defRPr>
            </a:pPr>
            <a:r>
              <a:t>Demo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356616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00606D"/>
                </a:solidFill>
                <a:latin typeface="Manrope"/>
              </a:defRPr>
            </a:pPr>
            <a:r>
              <a:t>Search Disease</a:t>
            </a:r>
          </a:p>
          <a:p>
            <a:pPr>
              <a:defRPr sz="1100">
                <a:solidFill>
                  <a:srgbClr val="3F484B"/>
                </a:solidFill>
                <a:latin typeface="Inter"/>
              </a:defRPr>
            </a:pPr>
            <a:r>
              <a:t>Enter 'Lyme Disease' for ranked</a:t>
            </a:r>
            <a:br/>
            <a:r>
              <a:t>drug candidates with confidence scores.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0" y="2816352"/>
            <a:ext cx="292608" cy="292608"/>
          </a:xfrm>
          <a:prstGeom prst="ellipse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743200"/>
            <a:ext cx="356616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00606D"/>
                </a:solidFill>
                <a:latin typeface="Manrope"/>
              </a:defRPr>
            </a:pPr>
            <a:r>
              <a:t>Review Results</a:t>
            </a:r>
          </a:p>
          <a:p>
            <a:pPr>
              <a:defRPr sz="1100">
                <a:solidFill>
                  <a:srgbClr val="3F484B"/>
                </a:solidFill>
                <a:latin typeface="Inter"/>
              </a:defRPr>
            </a:pPr>
            <a:r>
              <a:t>Examine Strong, Moderate, and</a:t>
            </a:r>
            <a:br/>
            <a:r>
              <a:t>Speculative confidence tiers.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2816352"/>
            <a:ext cx="292608" cy="292608"/>
          </a:xfrm>
          <a:prstGeom prst="ellipse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743200"/>
            <a:ext cx="356616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00606D"/>
                </a:solidFill>
                <a:latin typeface="Manrope"/>
              </a:defRPr>
            </a:pPr>
            <a:r>
              <a:t>Evidence Verdicts</a:t>
            </a:r>
          </a:p>
          <a:p>
            <a:pPr>
              <a:defRPr sz="1100">
                <a:solidFill>
                  <a:srgbClr val="3F484B"/>
                </a:solidFill>
                <a:latin typeface="Inter"/>
              </a:defRPr>
            </a:pPr>
            <a:r>
              <a:t>Supports vs Conflicts verdicts:</a:t>
            </a:r>
            <a:br/>
            <a:r>
              <a:t>Doxycycline vs Cyclosporine.</a:t>
            </a:r>
          </a:p>
        </p:txBody>
      </p:sp>
      <p:sp>
        <p:nvSpPr>
          <p:cNvPr id="15" name="Oval 14"/>
          <p:cNvSpPr/>
          <p:nvPr/>
        </p:nvSpPr>
        <p:spPr>
          <a:xfrm>
            <a:off x="11155680" y="2816352"/>
            <a:ext cx="292608" cy="292608"/>
          </a:xfrm>
          <a:prstGeom prst="ellipse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17720"/>
            <a:ext cx="356616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00606D"/>
                </a:solidFill>
                <a:latin typeface="Manrope"/>
              </a:defRPr>
            </a:pPr>
            <a:r>
              <a:t>Clinical Details</a:t>
            </a:r>
          </a:p>
          <a:p>
            <a:pPr>
              <a:defRPr sz="1100">
                <a:solidFill>
                  <a:srgbClr val="3F484B"/>
                </a:solidFill>
                <a:latin typeface="Inter"/>
              </a:defRPr>
            </a:pPr>
            <a:r>
              <a:t>Expand ClinicalTrials.gov trials</a:t>
            </a:r>
            <a:br/>
            <a:r>
              <a:t>and biological pathway chains.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0" y="4690872"/>
            <a:ext cx="292608" cy="292608"/>
          </a:xfrm>
          <a:prstGeom prst="ellipse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617720"/>
            <a:ext cx="356616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00606D"/>
                </a:solidFill>
                <a:latin typeface="Manrope"/>
              </a:defRPr>
            </a:pPr>
            <a:r>
              <a:t>Compare Mode</a:t>
            </a:r>
          </a:p>
          <a:p>
            <a:pPr>
              <a:defRPr sz="1100">
                <a:solidFill>
                  <a:srgbClr val="3F484B"/>
                </a:solidFill>
                <a:latin typeface="Inter"/>
              </a:defRPr>
            </a:pPr>
            <a:r>
              <a:t>Select two candidates for</a:t>
            </a:r>
            <a:br/>
            <a:r>
              <a:t>side-by-side comparison.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0" y="4690872"/>
            <a:ext cx="292608" cy="292608"/>
          </a:xfrm>
          <a:prstGeom prst="ellipse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617720"/>
            <a:ext cx="356616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500" b="1">
                <a:solidFill>
                  <a:srgbClr val="00606D"/>
                </a:solidFill>
                <a:latin typeface="Manrope"/>
              </a:defRPr>
            </a:pPr>
            <a:r>
              <a:t>Reverse Search</a:t>
            </a:r>
          </a:p>
          <a:p>
            <a:pPr>
              <a:defRPr sz="1100">
                <a:solidFill>
                  <a:srgbClr val="3F484B"/>
                </a:solidFill>
                <a:latin typeface="Inter"/>
              </a:defRPr>
            </a:pPr>
            <a:r>
              <a:t>Search 'Metformin' to see what</a:t>
            </a:r>
            <a:br/>
            <a:r>
              <a:t>conditions it may treat.</a:t>
            </a:r>
          </a:p>
        </p:txBody>
      </p:sp>
      <p:sp>
        <p:nvSpPr>
          <p:cNvPr id="21" name="Oval 20"/>
          <p:cNvSpPr/>
          <p:nvPr/>
        </p:nvSpPr>
        <p:spPr>
          <a:xfrm>
            <a:off x="11155680" y="4690872"/>
            <a:ext cx="292608" cy="292608"/>
          </a:xfrm>
          <a:prstGeom prst="ellipse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577"/>
                </a:solidFill>
                <a:latin typeface="Inter"/>
              </a:defRPr>
            </a:pPr>
            <a:r>
              <a:t>BIOLINK | AAI 595 APPLIED MACHINE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510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577"/>
                </a:solidFill>
                <a:latin typeface="Inter"/>
              </a:defRPr>
            </a:pPr>
            <a:r>
              <a:t>SLIDE 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06D"/>
                </a:solidFill>
                <a:latin typeface="Manrope"/>
              </a:defRPr>
            </a:pPr>
            <a:r>
              <a:t>BioLink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828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577"/>
                </a:solidFill>
                <a:latin typeface="Inter"/>
              </a:defRPr>
            </a:pPr>
            <a:r>
              <a:t>AAI 595 | FINAL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640080"/>
            <a:ext cx="10698480" cy="1828800"/>
          </a:xfrm>
          <a:prstGeom prst="roundRect">
            <a:avLst/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77724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004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270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anrope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515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751"/>
                </a:solidFill>
                <a:latin typeface="Manrope"/>
              </a:defRPr>
            </a:pPr>
            <a:r>
              <a:t>Thank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4751"/>
                </a:solidFill>
                <a:latin typeface="Manrope"/>
              </a:defRPr>
            </a:pPr>
            <a:r>
              <a:t>Questions &amp; Discussion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576072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200" b="1">
                <a:solidFill>
                  <a:srgbClr val="00606D"/>
                </a:solidFill>
                <a:latin typeface="Manrope"/>
              </a:defRPr>
            </a:pPr>
            <a:r>
              <a:t>OPEN SOURCE &amp; LINKS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GITHUB REPOSITORY</a:t>
            </a:r>
            <a:br/>
            <a:r>
              <a:t>github.com/dustinhaggett/biolink-v2</a:t>
            </a:r>
            <a:br/>
            <a:br/>
            <a:r>
              <a:t>HF SPACES DEMO</a:t>
            </a:r>
            <a:br/>
            <a:r>
              <a:t>huggingface.co/spaces/dustinhaggett/biolink-v2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697480"/>
            <a:ext cx="44805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DC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37160"/>
          <a:lstStyle/>
          <a:p>
            <a:pPr algn="ctr">
              <a:spcAft>
                <a:spcPts val="500"/>
              </a:spcAft>
              <a:defRPr sz="1200" b="1">
                <a:solidFill>
                  <a:srgbClr val="065F46"/>
                </a:solidFill>
                <a:latin typeface="Manrope"/>
              </a:defRPr>
            </a:pPr>
            <a:r>
              <a:t>TEAM</a:t>
            </a:r>
          </a:p>
          <a:p>
            <a:pPr>
              <a:defRPr sz="1200">
                <a:solidFill>
                  <a:srgbClr val="3F484B"/>
                </a:solidFill>
                <a:latin typeface="Inter"/>
              </a:defRPr>
            </a:pPr>
            <a:r>
              <a:t>Dustin Haggett</a:t>
            </a:r>
            <a:br/>
            <a:r>
              <a:t>Kera Prosper</a:t>
            </a:r>
            <a:br/>
            <a:r>
              <a:t>Mia Braun</a:t>
            </a:r>
            <a:br/>
            <a:br/>
            <a:r>
              <a:t>AAI 595 - APPLIED MACHINE LEARNING</a:t>
            </a:r>
            <a:br/>
            <a:r>
              <a:t>DR. TAO HAN | STEVENS INSTITUTE OF TECHNOLOGY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698480" cy="457200"/>
          </a:xfrm>
          <a:prstGeom prst="roundRect">
            <a:avLst/>
          </a:prstGeom>
          <a:solidFill>
            <a:srgbClr val="CD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300" b="1">
                <a:solidFill>
                  <a:srgbClr val="004751"/>
                </a:solidFill>
                <a:latin typeface="Manrope"/>
              </a:defRPr>
            </a:pPr>
            <a:r>
              <a:t>BioLink is a hypothesis-generation tool for research purposes only. Not medical advice.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698480" cy="548640"/>
          </a:xfrm>
          <a:prstGeom prst="round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4751"/>
                </a:solidFill>
                <a:latin typeface="Manrope"/>
              </a:defRPr>
            </a:pPr>
            <a:r>
              <a:t>DISCLAIMER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484B"/>
                </a:solidFill>
                <a:latin typeface="Inter"/>
              </a:defRPr>
            </a:pPr>
            <a:r>
              <a:t>BioLink is for research and educational purposes only. Not medical advice. Consult a healthcare provider.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BD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577"/>
                </a:solidFill>
                <a:latin typeface="Inter"/>
              </a:defRPr>
            </a:pPr>
            <a:r>
              <a:t>BIOLINK | AAI 595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510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577"/>
                </a:solidFill>
                <a:latin typeface="Inter"/>
              </a:defRPr>
            </a:pPr>
            <a:r>
              <a:t>SLIDE 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